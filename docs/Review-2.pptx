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70" r:id="rId7"/>
    <p:sldId id="271" r:id="rId8"/>
    <p:sldId id="268" r:id="rId9"/>
    <p:sldId id="274" r:id="rId10"/>
    <p:sldId id="260" r:id="rId11"/>
    <p:sldId id="266" r:id="rId12"/>
    <p:sldId id="263" r:id="rId13"/>
    <p:sldId id="264" r:id="rId14"/>
    <p:sldId id="265"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0A8EC-1E5D-412E-A175-1AB172C9C8E0}" v="17" dt="2026-09-16T04:01:41.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P" userId="56329a40d34d80c2" providerId="LiveId" clId="{1F43D42F-BA7A-47E2-9ABC-88BEB8B02009}"/>
    <pc:docChg chg="undo custSel addSld delSld modSld sldOrd">
      <pc:chgData name="Dhanush P" userId="56329a40d34d80c2" providerId="LiveId" clId="{1F43D42F-BA7A-47E2-9ABC-88BEB8B02009}" dt="2026-09-16T04:15:15.305" v="592" actId="1076"/>
      <pc:docMkLst>
        <pc:docMk/>
      </pc:docMkLst>
      <pc:sldChg chg="modSp mod">
        <pc:chgData name="Dhanush P" userId="56329a40d34d80c2" providerId="LiveId" clId="{1F43D42F-BA7A-47E2-9ABC-88BEB8B02009}" dt="2026-08-19T03:48:23.762" v="381" actId="20577"/>
        <pc:sldMkLst>
          <pc:docMk/>
          <pc:sldMk cId="4131051487" sldId="258"/>
        </pc:sldMkLst>
        <pc:spChg chg="mod">
          <ac:chgData name="Dhanush P" userId="56329a40d34d80c2" providerId="LiveId" clId="{1F43D42F-BA7A-47E2-9ABC-88BEB8B02009}" dt="2026-08-19T03:48:23.762" v="381" actId="20577"/>
          <ac:spMkLst>
            <pc:docMk/>
            <pc:sldMk cId="4131051487" sldId="258"/>
            <ac:spMk id="7" creationId="{E80C5EDF-36E1-B20A-4EE7-25642591F363}"/>
          </ac:spMkLst>
        </pc:spChg>
      </pc:sldChg>
      <pc:sldChg chg="modSp mod">
        <pc:chgData name="Dhanush P" userId="56329a40d34d80c2" providerId="LiveId" clId="{1F43D42F-BA7A-47E2-9ABC-88BEB8B02009}" dt="2026-08-19T03:47:39.782" v="369" actId="1076"/>
        <pc:sldMkLst>
          <pc:docMk/>
          <pc:sldMk cId="2712314714" sldId="259"/>
        </pc:sldMkLst>
        <pc:spChg chg="mod">
          <ac:chgData name="Dhanush P" userId="56329a40d34d80c2" providerId="LiveId" clId="{1F43D42F-BA7A-47E2-9ABC-88BEB8B02009}" dt="2026-08-19T03:47:39.782" v="369" actId="1076"/>
          <ac:spMkLst>
            <pc:docMk/>
            <pc:sldMk cId="2712314714" sldId="259"/>
            <ac:spMk id="11" creationId="{F0DA0EFA-A4E7-C14A-77D1-FB661563C410}"/>
          </ac:spMkLst>
        </pc:spChg>
        <pc:graphicFrameChg chg="mod modGraphic">
          <ac:chgData name="Dhanush P" userId="56329a40d34d80c2" providerId="LiveId" clId="{1F43D42F-BA7A-47E2-9ABC-88BEB8B02009}" dt="2026-08-19T03:40:30.117" v="294" actId="20577"/>
          <ac:graphicFrameMkLst>
            <pc:docMk/>
            <pc:sldMk cId="2712314714" sldId="259"/>
            <ac:graphicFrameMk id="9" creationId="{20978923-9769-A40D-D9B9-70198CE06204}"/>
          </ac:graphicFrameMkLst>
        </pc:graphicFrameChg>
      </pc:sldChg>
      <pc:sldChg chg="ord">
        <pc:chgData name="Dhanush P" userId="56329a40d34d80c2" providerId="LiveId" clId="{1F43D42F-BA7A-47E2-9ABC-88BEB8B02009}" dt="2026-09-16T02:56:53.386" v="394"/>
        <pc:sldMkLst>
          <pc:docMk/>
          <pc:sldMk cId="1321699848" sldId="260"/>
        </pc:sldMkLst>
      </pc:sldChg>
      <pc:sldChg chg="modSp mod ord">
        <pc:chgData name="Dhanush P" userId="56329a40d34d80c2" providerId="LiveId" clId="{1F43D42F-BA7A-47E2-9ABC-88BEB8B02009}" dt="2026-08-19T03:32:40.333" v="192"/>
        <pc:sldMkLst>
          <pc:docMk/>
          <pc:sldMk cId="3534381961" sldId="266"/>
        </pc:sldMkLst>
        <pc:spChg chg="mod">
          <ac:chgData name="Dhanush P" userId="56329a40d34d80c2" providerId="LiveId" clId="{1F43D42F-BA7A-47E2-9ABC-88BEB8B02009}" dt="2026-08-19T03:32:32.538" v="187" actId="1076"/>
          <ac:spMkLst>
            <pc:docMk/>
            <pc:sldMk cId="3534381961" sldId="266"/>
            <ac:spMk id="3" creationId="{BF79DB67-4E62-F4A9-0F84-D7EF1DCA261F}"/>
          </ac:spMkLst>
        </pc:spChg>
      </pc:sldChg>
      <pc:sldChg chg="modSp add mod">
        <pc:chgData name="Dhanush P" userId="56329a40d34d80c2" providerId="LiveId" clId="{1F43D42F-BA7A-47E2-9ABC-88BEB8B02009}" dt="2026-08-19T03:49:11.050" v="384" actId="14734"/>
        <pc:sldMkLst>
          <pc:docMk/>
          <pc:sldMk cId="2343066160" sldId="267"/>
        </pc:sldMkLst>
        <pc:spChg chg="mod">
          <ac:chgData name="Dhanush P" userId="56329a40d34d80c2" providerId="LiveId" clId="{1F43D42F-BA7A-47E2-9ABC-88BEB8B02009}" dt="2026-08-19T03:47:51.743" v="378" actId="1076"/>
          <ac:spMkLst>
            <pc:docMk/>
            <pc:sldMk cId="2343066160" sldId="267"/>
            <ac:spMk id="11" creationId="{84C196B5-2630-734D-3CF2-781DAFE22941}"/>
          </ac:spMkLst>
        </pc:spChg>
        <pc:graphicFrameChg chg="mod modGraphic">
          <ac:chgData name="Dhanush P" userId="56329a40d34d80c2" providerId="LiveId" clId="{1F43D42F-BA7A-47E2-9ABC-88BEB8B02009}" dt="2026-08-19T03:49:11.050" v="384" actId="14734"/>
          <ac:graphicFrameMkLst>
            <pc:docMk/>
            <pc:sldMk cId="2343066160" sldId="267"/>
            <ac:graphicFrameMk id="9" creationId="{914D41E0-21A2-5949-3353-8B9C6169332D}"/>
          </ac:graphicFrameMkLst>
        </pc:graphicFrameChg>
      </pc:sldChg>
      <pc:sldChg chg="addSp delSp modSp new del mod">
        <pc:chgData name="Dhanush P" userId="56329a40d34d80c2" providerId="LiveId" clId="{1F43D42F-BA7A-47E2-9ABC-88BEB8B02009}" dt="2026-09-16T02:56:55.801" v="395" actId="47"/>
        <pc:sldMkLst>
          <pc:docMk/>
          <pc:sldMk cId="540844793" sldId="268"/>
        </pc:sldMkLst>
        <pc:spChg chg="del">
          <ac:chgData name="Dhanush P" userId="56329a40d34d80c2" providerId="LiveId" clId="{1F43D42F-BA7A-47E2-9ABC-88BEB8B02009}" dt="2026-09-16T02:56:12.519" v="387" actId="478"/>
          <ac:spMkLst>
            <pc:docMk/>
            <pc:sldMk cId="540844793" sldId="268"/>
            <ac:spMk id="2" creationId="{21C49ADD-0F01-4F09-25C5-505EF14FA46F}"/>
          </ac:spMkLst>
        </pc:spChg>
        <pc:spChg chg="del">
          <ac:chgData name="Dhanush P" userId="56329a40d34d80c2" providerId="LiveId" clId="{1F43D42F-BA7A-47E2-9ABC-88BEB8B02009}" dt="2026-09-16T02:56:12.519" v="387" actId="478"/>
          <ac:spMkLst>
            <pc:docMk/>
            <pc:sldMk cId="540844793" sldId="268"/>
            <ac:spMk id="3" creationId="{32FED96D-588C-B7E5-88B0-B92D3FDA75BF}"/>
          </ac:spMkLst>
        </pc:spChg>
        <pc:spChg chg="add del mod">
          <ac:chgData name="Dhanush P" userId="56329a40d34d80c2" providerId="LiveId" clId="{1F43D42F-BA7A-47E2-9ABC-88BEB8B02009}" dt="2026-09-16T02:56:37.071" v="391" actId="478"/>
          <ac:spMkLst>
            <pc:docMk/>
            <pc:sldMk cId="540844793" sldId="268"/>
            <ac:spMk id="4" creationId="{5DB49F14-22BF-084D-983E-8B032B8703A5}"/>
          </ac:spMkLst>
        </pc:spChg>
        <pc:spChg chg="add">
          <ac:chgData name="Dhanush P" userId="56329a40d34d80c2" providerId="LiveId" clId="{1F43D42F-BA7A-47E2-9ABC-88BEB8B02009}" dt="2026-09-16T02:56:38.051" v="392" actId="22"/>
          <ac:spMkLst>
            <pc:docMk/>
            <pc:sldMk cId="540844793" sldId="268"/>
            <ac:spMk id="6" creationId="{B0C40255-9B97-D49E-1709-08B2ADEB361E}"/>
          </ac:spMkLst>
        </pc:spChg>
      </pc:sldChg>
      <pc:sldChg chg="addSp delSp modSp add mod ord">
        <pc:chgData name="Dhanush P" userId="56329a40d34d80c2" providerId="LiveId" clId="{1F43D42F-BA7A-47E2-9ABC-88BEB8B02009}" dt="2026-09-16T04:15:15.305" v="592" actId="1076"/>
        <pc:sldMkLst>
          <pc:docMk/>
          <pc:sldMk cId="4230433099" sldId="268"/>
        </pc:sldMkLst>
        <pc:spChg chg="del mod">
          <ac:chgData name="Dhanush P" userId="56329a40d34d80c2" providerId="LiveId" clId="{1F43D42F-BA7A-47E2-9ABC-88BEB8B02009}" dt="2026-09-16T04:14:35.398" v="580" actId="478"/>
          <ac:spMkLst>
            <pc:docMk/>
            <pc:sldMk cId="4230433099" sldId="268"/>
            <ac:spMk id="11" creationId="{1DC53B93-DDBC-3A70-EBDB-336200A2B96F}"/>
          </ac:spMkLst>
        </pc:spChg>
        <pc:graphicFrameChg chg="del">
          <ac:chgData name="Dhanush P" userId="56329a40d34d80c2" providerId="LiveId" clId="{1F43D42F-BA7A-47E2-9ABC-88BEB8B02009}" dt="2026-09-16T02:57:07.607" v="399" actId="478"/>
          <ac:graphicFrameMkLst>
            <pc:docMk/>
            <pc:sldMk cId="4230433099" sldId="268"/>
            <ac:graphicFrameMk id="9" creationId="{6007C342-21BC-68F5-8FE5-AD93C73DA760}"/>
          </ac:graphicFrameMkLst>
        </pc:graphicFrameChg>
        <pc:picChg chg="add del mod">
          <ac:chgData name="Dhanush P" userId="56329a40d34d80c2" providerId="LiveId" clId="{1F43D42F-BA7A-47E2-9ABC-88BEB8B02009}" dt="2026-09-16T04:14:21.573" v="577" actId="478"/>
          <ac:picMkLst>
            <pc:docMk/>
            <pc:sldMk cId="4230433099" sldId="268"/>
            <ac:picMk id="3" creationId="{628386F9-07EE-933F-04C3-A98DB60E84B9}"/>
          </ac:picMkLst>
        </pc:picChg>
        <pc:picChg chg="add mod">
          <ac:chgData name="Dhanush P" userId="56329a40d34d80c2" providerId="LiveId" clId="{1F43D42F-BA7A-47E2-9ABC-88BEB8B02009}" dt="2026-09-16T04:15:15.305" v="592" actId="1076"/>
          <ac:picMkLst>
            <pc:docMk/>
            <pc:sldMk cId="4230433099" sldId="268"/>
            <ac:picMk id="4" creationId="{9F8E433E-A3E2-9A35-C198-E94274FF6259}"/>
          </ac:picMkLst>
        </pc:picChg>
        <pc:picChg chg="del">
          <ac:chgData name="Dhanush P" userId="56329a40d34d80c2" providerId="LiveId" clId="{1F43D42F-BA7A-47E2-9ABC-88BEB8B02009}" dt="2026-09-16T04:14:56.189" v="587" actId="478"/>
          <ac:picMkLst>
            <pc:docMk/>
            <pc:sldMk cId="4230433099" sldId="268"/>
            <ac:picMk id="5" creationId="{88352CDA-0A91-C44A-9648-EBDB2DD8D914}"/>
          </ac:picMkLst>
        </pc:picChg>
      </pc:sldChg>
      <pc:sldChg chg="addSp delSp modSp new del mod">
        <pc:chgData name="Dhanush P" userId="56329a40d34d80c2" providerId="LiveId" clId="{1F43D42F-BA7A-47E2-9ABC-88BEB8B02009}" dt="2026-09-16T04:01:40.037" v="561" actId="47"/>
        <pc:sldMkLst>
          <pc:docMk/>
          <pc:sldMk cId="2060465845" sldId="269"/>
        </pc:sldMkLst>
        <pc:spChg chg="del">
          <ac:chgData name="Dhanush P" userId="56329a40d34d80c2" providerId="LiveId" clId="{1F43D42F-BA7A-47E2-9ABC-88BEB8B02009}" dt="2026-09-16T02:59:10.748" v="432" actId="478"/>
          <ac:spMkLst>
            <pc:docMk/>
            <pc:sldMk cId="2060465845" sldId="269"/>
            <ac:spMk id="2" creationId="{E26064D1-6908-6220-3C74-79F209CFE05A}"/>
          </ac:spMkLst>
        </pc:spChg>
        <pc:spChg chg="del">
          <ac:chgData name="Dhanush P" userId="56329a40d34d80c2" providerId="LiveId" clId="{1F43D42F-BA7A-47E2-9ABC-88BEB8B02009}" dt="2026-09-16T02:59:10.748" v="432" actId="478"/>
          <ac:spMkLst>
            <pc:docMk/>
            <pc:sldMk cId="2060465845" sldId="269"/>
            <ac:spMk id="3" creationId="{CB22BDD1-B30C-0F38-E421-3117EC7F600F}"/>
          </ac:spMkLst>
        </pc:spChg>
        <pc:picChg chg="add del mod">
          <ac:chgData name="Dhanush P" userId="56329a40d34d80c2" providerId="LiveId" clId="{1F43D42F-BA7A-47E2-9ABC-88BEB8B02009}" dt="2026-09-16T04:01:14.216" v="556" actId="478"/>
          <ac:picMkLst>
            <pc:docMk/>
            <pc:sldMk cId="2060465845" sldId="269"/>
            <ac:picMk id="5" creationId="{F5C5D610-80E9-E271-4BD5-7316B3604D54}"/>
          </ac:picMkLst>
        </pc:picChg>
        <pc:picChg chg="add del mod">
          <ac:chgData name="Dhanush P" userId="56329a40d34d80c2" providerId="LiveId" clId="{1F43D42F-BA7A-47E2-9ABC-88BEB8B02009}" dt="2026-09-16T04:01:33.092" v="560" actId="478"/>
          <ac:picMkLst>
            <pc:docMk/>
            <pc:sldMk cId="2060465845" sldId="269"/>
            <ac:picMk id="6" creationId="{E37C2919-E45B-EB2C-6905-E6F8CF8E8601}"/>
          </ac:picMkLst>
        </pc:picChg>
      </pc:sldChg>
      <pc:sldChg chg="new del">
        <pc:chgData name="Dhanush P" userId="56329a40d34d80c2" providerId="LiveId" clId="{1F43D42F-BA7A-47E2-9ABC-88BEB8B02009}" dt="2026-09-16T02:59:50.991" v="436" actId="47"/>
        <pc:sldMkLst>
          <pc:docMk/>
          <pc:sldMk cId="2549721691" sldId="270"/>
        </pc:sldMkLst>
      </pc:sldChg>
      <pc:sldChg chg="addSp delSp modSp add mod">
        <pc:chgData name="Dhanush P" userId="56329a40d34d80c2" providerId="LiveId" clId="{1F43D42F-BA7A-47E2-9ABC-88BEB8B02009}" dt="2026-09-16T03:08:35.511" v="506" actId="1076"/>
        <pc:sldMkLst>
          <pc:docMk/>
          <pc:sldMk cId="3731061506" sldId="270"/>
        </pc:sldMkLst>
        <pc:spChg chg="add mod">
          <ac:chgData name="Dhanush P" userId="56329a40d34d80c2" providerId="LiveId" clId="{1F43D42F-BA7A-47E2-9ABC-88BEB8B02009}" dt="2026-09-16T03:08:35.511" v="506" actId="1076"/>
          <ac:spMkLst>
            <pc:docMk/>
            <pc:sldMk cId="3731061506" sldId="270"/>
            <ac:spMk id="2" creationId="{8930141C-5B69-8046-B373-CBD06E63B146}"/>
          </ac:spMkLst>
        </pc:spChg>
        <pc:graphicFrameChg chg="del">
          <ac:chgData name="Dhanush P" userId="56329a40d34d80c2" providerId="LiveId" clId="{1F43D42F-BA7A-47E2-9ABC-88BEB8B02009}" dt="2026-09-16T02:59:59.481" v="438" actId="478"/>
          <ac:graphicFrameMkLst>
            <pc:docMk/>
            <pc:sldMk cId="3731061506" sldId="270"/>
            <ac:graphicFrameMk id="9" creationId="{8EC182DB-D30D-7F91-4824-4980280161EF}"/>
          </ac:graphicFrameMkLst>
        </pc:graphicFrameChg>
      </pc:sldChg>
      <pc:sldChg chg="modSp add mod">
        <pc:chgData name="Dhanush P" userId="56329a40d34d80c2" providerId="LiveId" clId="{1F43D42F-BA7A-47E2-9ABC-88BEB8B02009}" dt="2026-09-16T03:08:24.437" v="505" actId="1076"/>
        <pc:sldMkLst>
          <pc:docMk/>
          <pc:sldMk cId="733485473" sldId="271"/>
        </pc:sldMkLst>
        <pc:spChg chg="mod">
          <ac:chgData name="Dhanush P" userId="56329a40d34d80c2" providerId="LiveId" clId="{1F43D42F-BA7A-47E2-9ABC-88BEB8B02009}" dt="2026-09-16T03:08:24.437" v="505" actId="1076"/>
          <ac:spMkLst>
            <pc:docMk/>
            <pc:sldMk cId="733485473" sldId="271"/>
            <ac:spMk id="2" creationId="{3F2E954B-59DF-022D-1F6A-FD8023635589}"/>
          </ac:spMkLst>
        </pc:spChg>
      </pc:sldChg>
      <pc:sldChg chg="addSp delSp modSp add mod">
        <pc:chgData name="Dhanush P" userId="56329a40d34d80c2" providerId="LiveId" clId="{1F43D42F-BA7A-47E2-9ABC-88BEB8B02009}" dt="2026-09-16T03:23:06.255" v="549" actId="14100"/>
        <pc:sldMkLst>
          <pc:docMk/>
          <pc:sldMk cId="2435291614" sldId="272"/>
        </pc:sldMkLst>
        <pc:spChg chg="del mod">
          <ac:chgData name="Dhanush P" userId="56329a40d34d80c2" providerId="LiveId" clId="{1F43D42F-BA7A-47E2-9ABC-88BEB8B02009}" dt="2026-09-16T03:21:31.738" v="517" actId="478"/>
          <ac:spMkLst>
            <pc:docMk/>
            <pc:sldMk cId="2435291614" sldId="272"/>
            <ac:spMk id="6" creationId="{0CDA2B1F-44A6-FBAA-8224-3EA38B708415}"/>
          </ac:spMkLst>
        </pc:spChg>
        <pc:spChg chg="del">
          <ac:chgData name="Dhanush P" userId="56329a40d34d80c2" providerId="LiveId" clId="{1F43D42F-BA7A-47E2-9ABC-88BEB8B02009}" dt="2026-09-16T03:09:04.898" v="508" actId="478"/>
          <ac:spMkLst>
            <pc:docMk/>
            <pc:sldMk cId="2435291614" sldId="272"/>
            <ac:spMk id="7" creationId="{A076BC96-37B0-99B9-264A-CEA94850C329}"/>
          </ac:spMkLst>
        </pc:spChg>
        <pc:spChg chg="add mod">
          <ac:chgData name="Dhanush P" userId="56329a40d34d80c2" providerId="LiveId" clId="{1F43D42F-BA7A-47E2-9ABC-88BEB8B02009}" dt="2026-09-16T03:22:58.460" v="548" actId="1076"/>
          <ac:spMkLst>
            <pc:docMk/>
            <pc:sldMk cId="2435291614" sldId="272"/>
            <ac:spMk id="8" creationId="{8AA00ACC-095C-8F5F-5676-5AFC0BB077DD}"/>
          </ac:spMkLst>
        </pc:spChg>
        <pc:picChg chg="add mod">
          <ac:chgData name="Dhanush P" userId="56329a40d34d80c2" providerId="LiveId" clId="{1F43D42F-BA7A-47E2-9ABC-88BEB8B02009}" dt="2026-09-16T03:23:06.255" v="549" actId="14100"/>
          <ac:picMkLst>
            <pc:docMk/>
            <pc:sldMk cId="2435291614" sldId="272"/>
            <ac:picMk id="3" creationId="{92F71A73-8A9E-DB20-A132-016162C030BD}"/>
          </ac:picMkLst>
        </pc:picChg>
      </pc:sldChg>
      <pc:sldChg chg="addSp delSp modSp add mod">
        <pc:chgData name="Dhanush P" userId="56329a40d34d80c2" providerId="LiveId" clId="{1F43D42F-BA7A-47E2-9ABC-88BEB8B02009}" dt="2026-09-16T03:23:39.699" v="555" actId="14100"/>
        <pc:sldMkLst>
          <pc:docMk/>
          <pc:sldMk cId="4059553134" sldId="273"/>
        </pc:sldMkLst>
        <pc:picChg chg="del">
          <ac:chgData name="Dhanush P" userId="56329a40d34d80c2" providerId="LiveId" clId="{1F43D42F-BA7A-47E2-9ABC-88BEB8B02009}" dt="2026-09-16T03:23:15.922" v="551" actId="478"/>
          <ac:picMkLst>
            <pc:docMk/>
            <pc:sldMk cId="4059553134" sldId="273"/>
            <ac:picMk id="3" creationId="{707C6346-A3E9-73F7-B5F6-5634EB12F57E}"/>
          </ac:picMkLst>
        </pc:picChg>
        <pc:picChg chg="add mod">
          <ac:chgData name="Dhanush P" userId="56329a40d34d80c2" providerId="LiveId" clId="{1F43D42F-BA7A-47E2-9ABC-88BEB8B02009}" dt="2026-09-16T03:23:39.699" v="555" actId="14100"/>
          <ac:picMkLst>
            <pc:docMk/>
            <pc:sldMk cId="4059553134" sldId="273"/>
            <ac:picMk id="4" creationId="{52021087-8E4A-E2B7-1B17-96818EAF3886}"/>
          </ac:picMkLst>
        </pc:picChg>
      </pc:sldChg>
      <pc:sldChg chg="addSp delSp modSp add mod ord">
        <pc:chgData name="Dhanush P" userId="56329a40d34d80c2" providerId="LiveId" clId="{1F43D42F-BA7A-47E2-9ABC-88BEB8B02009}" dt="2026-09-16T04:02:56.500" v="576" actId="1076"/>
        <pc:sldMkLst>
          <pc:docMk/>
          <pc:sldMk cId="4028953013" sldId="274"/>
        </pc:sldMkLst>
        <pc:spChg chg="del">
          <ac:chgData name="Dhanush P" userId="56329a40d34d80c2" providerId="LiveId" clId="{1F43D42F-BA7A-47E2-9ABC-88BEB8B02009}" dt="2026-09-16T04:01:48.761" v="565" actId="478"/>
          <ac:spMkLst>
            <pc:docMk/>
            <pc:sldMk cId="4028953013" sldId="274"/>
            <ac:spMk id="2" creationId="{AB6DCF2D-357E-4BCC-BC7D-56D8D68A8273}"/>
          </ac:spMkLst>
        </pc:spChg>
        <pc:spChg chg="del">
          <ac:chgData name="Dhanush P" userId="56329a40d34d80c2" providerId="LiveId" clId="{1F43D42F-BA7A-47E2-9ABC-88BEB8B02009}" dt="2026-09-16T04:01:52.976" v="566" actId="478"/>
          <ac:spMkLst>
            <pc:docMk/>
            <pc:sldMk cId="4028953013" sldId="274"/>
            <ac:spMk id="11" creationId="{05E730BD-3E96-F51D-D17C-EB2F944876CE}"/>
          </ac:spMkLst>
        </pc:spChg>
        <pc:picChg chg="add mod">
          <ac:chgData name="Dhanush P" userId="56329a40d34d80c2" providerId="LiveId" clId="{1F43D42F-BA7A-47E2-9ABC-88BEB8B02009}" dt="2026-09-16T04:02:56.500" v="576" actId="1076"/>
          <ac:picMkLst>
            <pc:docMk/>
            <pc:sldMk cId="4028953013" sldId="274"/>
            <ac:picMk id="3" creationId="{AF7329F2-812F-9E16-7DC0-E26FA477716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FD6F-99B4-27CB-3E61-5E01716B3C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6510E4-8791-DBD6-A515-8E1F67A23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B2D7D0-E3B7-1AD9-6E10-153D10B230FF}"/>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73CCFDDE-53C8-09AB-BD7F-767720308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287915-E035-FBA6-BF25-E87F505BA1D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55391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244E-D864-13C0-4324-D1EA8A928B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F6B041-6599-CA9A-716A-0AC6568D9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67FEB6-DEFD-905D-2D9A-A68BDC4C5289}"/>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28E3D099-B171-347E-0BCC-241AC24D8D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03D37-20A4-732D-ADC9-798CC77C777B}"/>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5325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07AE-DAB9-C6BF-B02E-D9EB033A6F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854AD8-E529-8310-2A54-FF3C869FE7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A12EDE-1BF3-8873-5BD9-57609A8F1E70}"/>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4B4914A7-79EA-C32E-26A3-CAF1F1729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882933-5B33-5612-1E93-58712098BCB5}"/>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19941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74976-14D9-1DA9-6D3C-FC9D1C04F4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0B8152-A2AD-60BD-8023-1DB6F5736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B07268-E4AC-AAFA-809B-A7FACCEB5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8BB2F7-C0C7-0686-CE35-4D0AC18FC032}"/>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6" name="Footer Placeholder 5">
            <a:extLst>
              <a:ext uri="{FF2B5EF4-FFF2-40B4-BE49-F238E27FC236}">
                <a16:creationId xmlns:a16="http://schemas.microsoft.com/office/drawing/2014/main" id="{F6A8F08A-77CC-384A-28A2-DCB62C97E3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E177E-460C-AF3E-4FBD-7BB0C0E6F2E7}"/>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613676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F6ED-1CD0-C35A-41AE-66C26C65F4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C99286-5F36-0386-B98B-E3307C6B3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601A9-AB25-8D84-D822-714508ED4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E3AA44-664C-5A7B-B4EF-B0615A39F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62492E-AB38-F05F-9FF4-D91A9C7A2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8821CF-4728-B0FB-B2A4-1E0D4F42F42B}"/>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8" name="Footer Placeholder 7">
            <a:extLst>
              <a:ext uri="{FF2B5EF4-FFF2-40B4-BE49-F238E27FC236}">
                <a16:creationId xmlns:a16="http://schemas.microsoft.com/office/drawing/2014/main" id="{A4AF0834-7607-B67F-B9A3-161F70FF86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19D70A-AA5B-A1FB-9F8A-16F09BD59F96}"/>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82999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7B8-ED1B-BC1F-FD2A-8A93B00978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40CEC5-5DE4-A4C2-0916-80CA48C83CA5}"/>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4" name="Footer Placeholder 3">
            <a:extLst>
              <a:ext uri="{FF2B5EF4-FFF2-40B4-BE49-F238E27FC236}">
                <a16:creationId xmlns:a16="http://schemas.microsoft.com/office/drawing/2014/main" id="{70CC91DE-0ABC-7AF0-99A3-6C1F03F419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92629A-4476-1DA2-5CF0-A17BA2FF9564}"/>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11437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EA375-E64B-FC59-E60C-C7E60FEE759F}"/>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3" name="Footer Placeholder 2">
            <a:extLst>
              <a:ext uri="{FF2B5EF4-FFF2-40B4-BE49-F238E27FC236}">
                <a16:creationId xmlns:a16="http://schemas.microsoft.com/office/drawing/2014/main" id="{2D9F6B6D-FC64-E39A-0CF6-137FFB3937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648588-12BE-2992-8A4B-80CF624478A8}"/>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73833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BEAB-E780-DC66-4645-14026847A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1A3F1-D3D3-03B4-F4FE-09289DF97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18737F-46A0-F644-1BE2-A39CCA853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7D3E43-4BFE-6EEB-7E5D-C3E6E521C2FF}"/>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6" name="Footer Placeholder 5">
            <a:extLst>
              <a:ext uri="{FF2B5EF4-FFF2-40B4-BE49-F238E27FC236}">
                <a16:creationId xmlns:a16="http://schemas.microsoft.com/office/drawing/2014/main" id="{91EB7744-A95B-C829-0983-58B7AA69BF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958981-AA73-8DA8-88E7-86319DCA450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7104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0A99-6350-8DD8-003A-8C2D6A238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1377BB-194E-3C4D-0195-11DD94BC1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9F5680-4760-9856-6BFA-FED5FE96C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C184B0-721A-CFF5-DFA8-086A9F14D736}"/>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6" name="Footer Placeholder 5">
            <a:extLst>
              <a:ext uri="{FF2B5EF4-FFF2-40B4-BE49-F238E27FC236}">
                <a16:creationId xmlns:a16="http://schemas.microsoft.com/office/drawing/2014/main" id="{4FD4E9EC-6EFC-B100-D4FE-7750A68D7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B3682-320C-4AEC-051E-CE99DDBF09F0}"/>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432204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05A4-FFC0-60D2-4411-51F9BD2520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4EFAD6-8C08-910A-3E6C-48DBB43344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346380-3316-55C5-BAFF-B526DCFB3F3E}"/>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4AC15194-2BD3-A3BC-1896-1CFA74F486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0FD476-9D32-6EAB-CDCE-20DDF0F3E0D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288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12A771-CE8F-4BE4-E853-07C2F00EE0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948D1E-30D1-2207-C542-9E92B0A34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580C6-8CDA-A684-9E44-095323178F08}"/>
              </a:ext>
            </a:extLst>
          </p:cNvPr>
          <p:cNvSpPr>
            <a:spLocks noGrp="1"/>
          </p:cNvSpPr>
          <p:nvPr>
            <p:ph type="dt" sz="half" idx="10"/>
          </p:nvPr>
        </p:nvSpPr>
        <p:spPr/>
        <p:txBody>
          <a:body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5598F739-8772-2624-0371-14A3C0189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C63732-2DB4-5C2D-1011-4AADB281B36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1169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51DA85-17C2-F18F-3674-C83705E9F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BB70EF-231B-898E-8C56-4EC79FFCB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924A2D-600C-B6DE-BAE5-70AEBAACE3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F34BA-1B9B-44B6-A5D6-6882C9FB0354}" type="datetimeFigureOut">
              <a:rPr lang="en-IN" smtClean="0"/>
              <a:t>16-09-2026</a:t>
            </a:fld>
            <a:endParaRPr lang="en-IN"/>
          </a:p>
        </p:txBody>
      </p:sp>
      <p:sp>
        <p:nvSpPr>
          <p:cNvPr id="5" name="Footer Placeholder 4">
            <a:extLst>
              <a:ext uri="{FF2B5EF4-FFF2-40B4-BE49-F238E27FC236}">
                <a16:creationId xmlns:a16="http://schemas.microsoft.com/office/drawing/2014/main" id="{C2988926-842D-CF1C-93EC-177F4E6939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D7DD65-9B4B-93A7-B4F7-164DB0594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FEB6CF-1332-4B2E-BAB9-76E646DDC6F5}" type="slidenum">
              <a:rPr lang="en-IN" smtClean="0"/>
              <a:t>‹#›</a:t>
            </a:fld>
            <a:endParaRPr lang="en-IN"/>
          </a:p>
        </p:txBody>
      </p:sp>
    </p:spTree>
    <p:extLst>
      <p:ext uri="{BB962C8B-B14F-4D97-AF65-F5344CB8AC3E}">
        <p14:creationId xmlns:p14="http://schemas.microsoft.com/office/powerpoint/2010/main" val="3312788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FC6623-7679-BA0C-6DF3-53814C43A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3DF2ADD0-58A3-5ACB-EB59-08EA47C86983}"/>
              </a:ext>
            </a:extLst>
          </p:cNvPr>
          <p:cNvSpPr txBox="1"/>
          <p:nvPr/>
        </p:nvSpPr>
        <p:spPr>
          <a:xfrm>
            <a:off x="2142066" y="1617133"/>
            <a:ext cx="8288867" cy="477054"/>
          </a:xfrm>
          <a:prstGeom prst="rect">
            <a:avLst/>
          </a:prstGeom>
          <a:noFill/>
        </p:spPr>
        <p:txBody>
          <a:bodyPr wrap="square" rtlCol="0">
            <a:spAutoFit/>
          </a:bodyPr>
          <a:lstStyle/>
          <a:p>
            <a:r>
              <a:rPr lang="en-IN" sz="2500" b="1" dirty="0" err="1"/>
              <a:t>ClinicaRAG</a:t>
            </a:r>
            <a:r>
              <a:rPr lang="en-IN" sz="2500" b="1" dirty="0"/>
              <a:t>: An LLM-Based Clinical Decision Support System</a:t>
            </a:r>
          </a:p>
        </p:txBody>
      </p:sp>
      <p:sp>
        <p:nvSpPr>
          <p:cNvPr id="7" name="TextBox 6">
            <a:extLst>
              <a:ext uri="{FF2B5EF4-FFF2-40B4-BE49-F238E27FC236}">
                <a16:creationId xmlns:a16="http://schemas.microsoft.com/office/drawing/2014/main" id="{81454382-B7A4-79B3-50E2-348160005286}"/>
              </a:ext>
            </a:extLst>
          </p:cNvPr>
          <p:cNvSpPr txBox="1"/>
          <p:nvPr/>
        </p:nvSpPr>
        <p:spPr>
          <a:xfrm>
            <a:off x="8551333" y="5334000"/>
            <a:ext cx="3513667" cy="1200329"/>
          </a:xfrm>
          <a:prstGeom prst="rect">
            <a:avLst/>
          </a:prstGeom>
          <a:noFill/>
        </p:spPr>
        <p:txBody>
          <a:bodyPr wrap="square" rtlCol="0">
            <a:spAutoFit/>
          </a:bodyPr>
          <a:lstStyle/>
          <a:p>
            <a:r>
              <a:rPr lang="en-IN" dirty="0"/>
              <a:t>Team - 9</a:t>
            </a:r>
          </a:p>
          <a:p>
            <a:r>
              <a:rPr lang="en-IN" dirty="0"/>
              <a:t>2420030057 – P. Dhanush</a:t>
            </a:r>
          </a:p>
          <a:p>
            <a:r>
              <a:rPr lang="en-IN" dirty="0"/>
              <a:t>2420080098 – Tannishtha Verma</a:t>
            </a:r>
          </a:p>
          <a:p>
            <a:r>
              <a:rPr lang="en-IN" dirty="0"/>
              <a:t>2420090147 – M. Rohith</a:t>
            </a:r>
          </a:p>
        </p:txBody>
      </p:sp>
      <p:sp>
        <p:nvSpPr>
          <p:cNvPr id="8" name="TextBox 7">
            <a:extLst>
              <a:ext uri="{FF2B5EF4-FFF2-40B4-BE49-F238E27FC236}">
                <a16:creationId xmlns:a16="http://schemas.microsoft.com/office/drawing/2014/main" id="{0FD1A5EA-CF31-C0D7-374C-AA422943462F}"/>
              </a:ext>
            </a:extLst>
          </p:cNvPr>
          <p:cNvSpPr txBox="1"/>
          <p:nvPr/>
        </p:nvSpPr>
        <p:spPr>
          <a:xfrm>
            <a:off x="2133601" y="2827867"/>
            <a:ext cx="8762999" cy="1754326"/>
          </a:xfrm>
          <a:prstGeom prst="rect">
            <a:avLst/>
          </a:prstGeom>
          <a:noFill/>
        </p:spPr>
        <p:txBody>
          <a:bodyPr wrap="square" rtlCol="0">
            <a:spAutoFit/>
          </a:bodyPr>
          <a:lstStyle/>
          <a:p>
            <a:pPr marL="285750" lvl="0" indent="-285750">
              <a:buFont typeface="Arial" panose="020B0604020202020204" pitchFamily="34" charset="0"/>
              <a:buChar char="•"/>
            </a:pPr>
            <a:r>
              <a:rPr lang="en-IN" b="1" dirty="0"/>
              <a:t>Domain:</a:t>
            </a:r>
            <a:r>
              <a:rPr lang="en-IN" dirty="0"/>
              <a:t> Healthcare &amp; Medical Natural Language Processing (NLP)</a:t>
            </a:r>
          </a:p>
          <a:p>
            <a:pPr marL="285750" lvl="0" indent="-285750">
              <a:buFont typeface="Arial" panose="020B0604020202020204" pitchFamily="34" charset="0"/>
              <a:buChar char="•"/>
            </a:pPr>
            <a:r>
              <a:rPr lang="en-IN" b="1" dirty="0"/>
              <a:t>Core Technologies:</a:t>
            </a:r>
            <a:r>
              <a:rPr lang="en-IN" dirty="0"/>
              <a:t> </a:t>
            </a:r>
            <a:r>
              <a:rPr lang="en-IN" dirty="0" err="1"/>
              <a:t>BioBERT</a:t>
            </a:r>
            <a:r>
              <a:rPr lang="en-IN" dirty="0"/>
              <a:t>, </a:t>
            </a:r>
            <a:r>
              <a:rPr lang="en-IN" dirty="0" err="1"/>
              <a:t>ClinicalBERT</a:t>
            </a:r>
            <a:r>
              <a:rPr lang="en-IN" dirty="0"/>
              <a:t>, Llama 3 (8B), Retrieval-Augmented Generation (RAG), </a:t>
            </a:r>
            <a:r>
              <a:rPr lang="en-IN" dirty="0" err="1"/>
              <a:t>ChromaDB</a:t>
            </a:r>
            <a:endParaRPr lang="en-IN" dirty="0"/>
          </a:p>
          <a:p>
            <a:pPr marL="285750" lvl="0" indent="-285750">
              <a:buFont typeface="Arial" panose="020B0604020202020204" pitchFamily="34" charset="0"/>
              <a:buChar char="•"/>
            </a:pPr>
            <a:r>
              <a:rPr lang="en-IN" b="1" dirty="0"/>
              <a:t>Datasets:</a:t>
            </a:r>
            <a:r>
              <a:rPr lang="en-IN" dirty="0"/>
              <a:t> MIMIC-III, PubMed / </a:t>
            </a:r>
            <a:r>
              <a:rPr lang="en-IN" dirty="0" err="1"/>
              <a:t>PubMedQA</a:t>
            </a:r>
            <a:r>
              <a:rPr lang="en-IN" dirty="0"/>
              <a:t>, MedQuAD, Clinical Notes Dataset</a:t>
            </a:r>
          </a:p>
          <a:p>
            <a:pPr marL="285750" lvl="0" indent="-285750">
              <a:buFont typeface="Arial" panose="020B0604020202020204" pitchFamily="34" charset="0"/>
              <a:buChar char="•"/>
            </a:pPr>
            <a:r>
              <a:rPr lang="en-IN" b="1" dirty="0"/>
              <a:t>Team Structure:</a:t>
            </a:r>
            <a:r>
              <a:rPr lang="en-IN" dirty="0"/>
              <a:t> 3-Member Collaborative Project (Built using Open-Source &amp; Free Tools)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40618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2AC24-626C-2EF3-9696-B1B658F0A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B8A4E18B-CD00-7350-2492-E29738620249}"/>
              </a:ext>
            </a:extLst>
          </p:cNvPr>
          <p:cNvSpPr txBox="1"/>
          <p:nvPr/>
        </p:nvSpPr>
        <p:spPr>
          <a:xfrm>
            <a:off x="4504266" y="1380067"/>
            <a:ext cx="6874934" cy="430887"/>
          </a:xfrm>
          <a:prstGeom prst="rect">
            <a:avLst/>
          </a:prstGeom>
          <a:noFill/>
        </p:spPr>
        <p:txBody>
          <a:bodyPr wrap="square" rtlCol="0">
            <a:spAutoFit/>
          </a:bodyPr>
          <a:lstStyle/>
          <a:p>
            <a:r>
              <a:rPr lang="en-IN" sz="2200" b="1" dirty="0"/>
              <a:t>Problem Statement</a:t>
            </a:r>
          </a:p>
        </p:txBody>
      </p:sp>
      <p:sp>
        <p:nvSpPr>
          <p:cNvPr id="8" name="TextBox 7">
            <a:extLst>
              <a:ext uri="{FF2B5EF4-FFF2-40B4-BE49-F238E27FC236}">
                <a16:creationId xmlns:a16="http://schemas.microsoft.com/office/drawing/2014/main" id="{24E64E92-0CC2-9179-BE58-E084BBA51244}"/>
              </a:ext>
            </a:extLst>
          </p:cNvPr>
          <p:cNvSpPr txBox="1"/>
          <p:nvPr/>
        </p:nvSpPr>
        <p:spPr>
          <a:xfrm>
            <a:off x="1041401" y="2709333"/>
            <a:ext cx="10143066" cy="1477328"/>
          </a:xfrm>
          <a:prstGeom prst="rect">
            <a:avLst/>
          </a:prstGeom>
          <a:noFill/>
        </p:spPr>
        <p:txBody>
          <a:bodyPr wrap="square" rtlCol="0">
            <a:spAutoFit/>
          </a:bodyPr>
          <a:lstStyle/>
          <a:p>
            <a:pPr lvl="0"/>
            <a:r>
              <a:rPr lang="en-IN" dirty="0"/>
              <a:t>Healthcare providers face severe cognitive fatigue parsing unstructured clinical notes, while general LLMs pose patient safety risks by generating ungrounded hallucinations without verifiable citations. Standard retrieval systems further degrade accuracy by searching vector databases with noisy raw text. This project addresses these challenges by combining biomedical entity extraction with literature-grounded LLM reasoning into a free, open-source clinical decision support system.</a:t>
            </a:r>
          </a:p>
        </p:txBody>
      </p:sp>
    </p:spTree>
    <p:extLst>
      <p:ext uri="{BB962C8B-B14F-4D97-AF65-F5344CB8AC3E}">
        <p14:creationId xmlns:p14="http://schemas.microsoft.com/office/powerpoint/2010/main" val="681904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14C62A-A6D5-85D4-F511-F40C872C9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C5168B5-6A18-E97B-F75A-5808BCAC6637}"/>
              </a:ext>
            </a:extLst>
          </p:cNvPr>
          <p:cNvSpPr txBox="1"/>
          <p:nvPr/>
        </p:nvSpPr>
        <p:spPr>
          <a:xfrm>
            <a:off x="5063066" y="1346200"/>
            <a:ext cx="5943600" cy="430887"/>
          </a:xfrm>
          <a:prstGeom prst="rect">
            <a:avLst/>
          </a:prstGeom>
          <a:noFill/>
        </p:spPr>
        <p:txBody>
          <a:bodyPr wrap="square" rtlCol="0">
            <a:spAutoFit/>
          </a:bodyPr>
          <a:lstStyle/>
          <a:p>
            <a:r>
              <a:rPr lang="en-IN" sz="2200" b="1" dirty="0"/>
              <a:t>Objectives</a:t>
            </a:r>
          </a:p>
        </p:txBody>
      </p:sp>
      <p:sp>
        <p:nvSpPr>
          <p:cNvPr id="7" name="TextBox 6">
            <a:extLst>
              <a:ext uri="{FF2B5EF4-FFF2-40B4-BE49-F238E27FC236}">
                <a16:creationId xmlns:a16="http://schemas.microsoft.com/office/drawing/2014/main" id="{E80C5EDF-36E1-B20A-4EE7-25642591F363}"/>
              </a:ext>
            </a:extLst>
          </p:cNvPr>
          <p:cNvSpPr txBox="1"/>
          <p:nvPr/>
        </p:nvSpPr>
        <p:spPr>
          <a:xfrm>
            <a:off x="787400" y="1888067"/>
            <a:ext cx="10261600" cy="4524315"/>
          </a:xfrm>
          <a:prstGeom prst="rect">
            <a:avLst/>
          </a:prstGeom>
          <a:noFill/>
        </p:spPr>
        <p:txBody>
          <a:bodyPr wrap="square" rtlCol="0">
            <a:spAutoFit/>
          </a:bodyPr>
          <a:lstStyle/>
          <a:p>
            <a:r>
              <a:rPr lang="en-IN" b="1" dirty="0"/>
              <a:t>To Develop The Project :</a:t>
            </a:r>
          </a:p>
          <a:p>
            <a:endParaRPr lang="en-IN" b="1" dirty="0"/>
          </a:p>
          <a:p>
            <a:pPr marL="285750" lvl="0" indent="-285750">
              <a:buFont typeface="Arial" panose="020B0604020202020204" pitchFamily="34" charset="0"/>
              <a:buChar char="•"/>
            </a:pPr>
            <a:r>
              <a:rPr lang="en-IN" b="1" dirty="0"/>
              <a:t>Automated Medical Entity Extraction:</a:t>
            </a:r>
            <a:r>
              <a:rPr lang="en-IN" dirty="0"/>
              <a:t> Precisely extract symptoms, diagnoses, medications, and lab tests from unstructured clinical notes using </a:t>
            </a:r>
            <a:r>
              <a:rPr lang="en-IN" dirty="0" err="1"/>
              <a:t>BioBERT</a:t>
            </a:r>
            <a:r>
              <a:rPr lang="en-IN" dirty="0"/>
              <a:t> and </a:t>
            </a:r>
            <a:r>
              <a:rPr lang="en-IN" dirty="0" err="1"/>
              <a:t>SpaCy</a:t>
            </a:r>
            <a:r>
              <a:rPr lang="en-IN" dirty="0"/>
              <a:t> NLP pipelines.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Evidence-Grounded Recommendation Engine:</a:t>
            </a:r>
            <a:r>
              <a:rPr lang="en-IN" dirty="0"/>
              <a:t> Eliminate LLM hallucinations by retrieving verified medical knowledge from PubMed and MedQuAD vector indices before generating responses.</a:t>
            </a:r>
          </a:p>
          <a:p>
            <a:pPr lvl="0"/>
            <a:endParaRPr lang="en-IN" b="1" dirty="0"/>
          </a:p>
          <a:p>
            <a:pPr lvl="0"/>
            <a:r>
              <a:rPr lang="en-IN" b="1" dirty="0"/>
              <a:t>To Enhance The Features :</a:t>
            </a:r>
          </a:p>
          <a:p>
            <a:pPr lvl="0"/>
            <a:endParaRPr lang="en-IN" b="1" dirty="0"/>
          </a:p>
          <a:p>
            <a:pPr marL="285750" lvl="0" indent="-285750">
              <a:buFont typeface="Arial" panose="020B0604020202020204" pitchFamily="34" charset="0"/>
              <a:buChar char="•"/>
            </a:pPr>
            <a:r>
              <a:rPr lang="en-IN" b="1" dirty="0"/>
              <a:t>Citation-Backed Diagnostic Support:</a:t>
            </a:r>
            <a:r>
              <a:rPr lang="en-IN" dirty="0"/>
              <a:t> Provide structured clinical reasoning, suggested differential diagnoses, and required follow-up tests using Llama 3, complete with source citations.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Open-Source Decision Support Dashboard:</a:t>
            </a:r>
            <a:r>
              <a:rPr lang="en-IN" dirty="0"/>
              <a:t> Deliver a fully interactive </a:t>
            </a:r>
            <a:r>
              <a:rPr lang="en-IN" dirty="0" err="1"/>
              <a:t>Streamlit</a:t>
            </a:r>
            <a:r>
              <a:rPr lang="en-IN" dirty="0"/>
              <a:t> web interface demonstrating end-to-end clinical decision support without relying on paid tools or proprietary APIs.</a:t>
            </a:r>
          </a:p>
          <a:p>
            <a:endParaRPr lang="en-IN" dirty="0"/>
          </a:p>
        </p:txBody>
      </p:sp>
    </p:spTree>
    <p:extLst>
      <p:ext uri="{BB962C8B-B14F-4D97-AF65-F5344CB8AC3E}">
        <p14:creationId xmlns:p14="http://schemas.microsoft.com/office/powerpoint/2010/main" val="413105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A9AB93-8B00-B61B-25B0-23DA03DDF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graphicFrame>
        <p:nvGraphicFramePr>
          <p:cNvPr id="9" name="Table 8">
            <a:extLst>
              <a:ext uri="{FF2B5EF4-FFF2-40B4-BE49-F238E27FC236}">
                <a16:creationId xmlns:a16="http://schemas.microsoft.com/office/drawing/2014/main" id="{20978923-9769-A40D-D9B9-70198CE06204}"/>
              </a:ext>
            </a:extLst>
          </p:cNvPr>
          <p:cNvGraphicFramePr>
            <a:graphicFrameLocks noGrp="1"/>
          </p:cNvGraphicFramePr>
          <p:nvPr>
            <p:extLst>
              <p:ext uri="{D42A27DB-BD31-4B8C-83A1-F6EECF244321}">
                <p14:modId xmlns:p14="http://schemas.microsoft.com/office/powerpoint/2010/main" val="2801344468"/>
              </p:ext>
            </p:extLst>
          </p:nvPr>
        </p:nvGraphicFramePr>
        <p:xfrm>
          <a:off x="143933" y="1879601"/>
          <a:ext cx="11963400" cy="4305748"/>
        </p:xfrm>
        <a:graphic>
          <a:graphicData uri="http://schemas.openxmlformats.org/drawingml/2006/table">
            <a:tbl>
              <a:tblPr/>
              <a:tblGrid>
                <a:gridCol w="719667">
                  <a:extLst>
                    <a:ext uri="{9D8B030D-6E8A-4147-A177-3AD203B41FA5}">
                      <a16:colId xmlns:a16="http://schemas.microsoft.com/office/drawing/2014/main" val="207665555"/>
                    </a:ext>
                  </a:extLst>
                </a:gridCol>
                <a:gridCol w="1803400">
                  <a:extLst>
                    <a:ext uri="{9D8B030D-6E8A-4147-A177-3AD203B41FA5}">
                      <a16:colId xmlns:a16="http://schemas.microsoft.com/office/drawing/2014/main" val="3902109784"/>
                    </a:ext>
                  </a:extLst>
                </a:gridCol>
                <a:gridCol w="812800">
                  <a:extLst>
                    <a:ext uri="{9D8B030D-6E8A-4147-A177-3AD203B41FA5}">
                      <a16:colId xmlns:a16="http://schemas.microsoft.com/office/drawing/2014/main" val="2524853104"/>
                    </a:ext>
                  </a:extLst>
                </a:gridCol>
                <a:gridCol w="4783667">
                  <a:extLst>
                    <a:ext uri="{9D8B030D-6E8A-4147-A177-3AD203B41FA5}">
                      <a16:colId xmlns:a16="http://schemas.microsoft.com/office/drawing/2014/main" val="1622254581"/>
                    </a:ext>
                  </a:extLst>
                </a:gridCol>
                <a:gridCol w="3843866">
                  <a:extLst>
                    <a:ext uri="{9D8B030D-6E8A-4147-A177-3AD203B41FA5}">
                      <a16:colId xmlns:a16="http://schemas.microsoft.com/office/drawing/2014/main" val="1970995257"/>
                    </a:ext>
                  </a:extLst>
                </a:gridCol>
              </a:tblGrid>
              <a:tr h="424051">
                <a:tc>
                  <a:txBody>
                    <a:bodyPr/>
                    <a:lstStyle/>
                    <a:p>
                      <a:pPr marL="0" marR="0" rtl="0">
                        <a:spcAft>
                          <a:spcPts val="2400"/>
                        </a:spcAft>
                        <a:buNone/>
                      </a:pPr>
                      <a:r>
                        <a:rPr lang="en-US" b="1" dirty="0">
                          <a:solidFill>
                            <a:srgbClr val="1F1F1F"/>
                          </a:solidFill>
                          <a:effectLst/>
                          <a:latin typeface="Google Sans Text"/>
                        </a:rPr>
                        <a:t>S. No</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dirty="0">
                          <a:solidFill>
                            <a:srgbClr val="1F1F1F"/>
                          </a:solidFill>
                          <a:effectLst/>
                          <a:latin typeface="Google Sans Text"/>
                        </a:rPr>
                        <a:t>Research Paper</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Year</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Key Strength</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Main Limitation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40669093"/>
                  </a:ext>
                </a:extLst>
              </a:tr>
              <a:tr h="1011197">
                <a:tc>
                  <a:txBody>
                    <a:bodyPr/>
                    <a:lstStyle/>
                    <a:p>
                      <a:pPr marL="0" marR="0" rtl="0">
                        <a:spcAft>
                          <a:spcPts val="2400"/>
                        </a:spcAft>
                        <a:buNone/>
                      </a:pPr>
                      <a:r>
                        <a:rPr lang="en-US" dirty="0">
                          <a:solidFill>
                            <a:srgbClr val="1F1F1F"/>
                          </a:solidFill>
                          <a:effectLst/>
                          <a:latin typeface="Google Sans Text"/>
                        </a:rPr>
                        <a:t>1</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2018</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Bidirectional pre-trained language model for general NLP tasks.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Lacks domain-specific clinical vocabulary and context.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8626283"/>
                  </a:ext>
                </a:extLst>
              </a:tr>
              <a:tr h="717625">
                <a:tc>
                  <a:txBody>
                    <a:bodyPr/>
                    <a:lstStyle/>
                    <a:p>
                      <a:pPr marL="0" marR="0" rtl="0">
                        <a:spcAft>
                          <a:spcPts val="2400"/>
                        </a:spcAft>
                        <a:buNone/>
                      </a:pPr>
                      <a:r>
                        <a:rPr lang="en-US" dirty="0">
                          <a:solidFill>
                            <a:srgbClr val="1F1F1F"/>
                          </a:solidFill>
                          <a:effectLst/>
                          <a:latin typeface="Google Sans Text"/>
                        </a:rPr>
                        <a:t>2</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BioBERT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a:t>
                      </a:r>
                      <a:r>
                        <a:rPr lang="en-IN" b="0" dirty="0">
                          <a:solidFill>
                            <a:srgbClr val="1F1F1F"/>
                          </a:solidFill>
                          <a:effectLst/>
                          <a:latin typeface="Google Sans Text"/>
                        </a:rPr>
                        <a:t>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BERT fine-tuned on PubMed abstracts &amp; PMC articles.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Struggles with unstructured clinical notes and patient narratives.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42291451"/>
                  </a:ext>
                </a:extLst>
              </a:tr>
              <a:tr h="717625">
                <a:tc>
                  <a:txBody>
                    <a:bodyPr/>
                    <a:lstStyle/>
                    <a:p>
                      <a:pPr marL="0" marR="0" rtl="0">
                        <a:spcAft>
                          <a:spcPts val="2400"/>
                        </a:spcAft>
                        <a:buNone/>
                      </a:pPr>
                      <a:r>
                        <a:rPr lang="en-US" dirty="0">
                          <a:solidFill>
                            <a:srgbClr val="1F1F1F"/>
                          </a:solidFill>
                          <a:effectLst/>
                          <a:latin typeface="Google Sans Text"/>
                        </a:rPr>
                        <a:t>3</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ClinicalBERT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Transformer pre-trained on EHR clinical notes (MIMIC-III).</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Limited token context window (512 tokens).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12742220"/>
                  </a:ext>
                </a:extLst>
              </a:tr>
              <a:tr h="717625">
                <a:tc>
                  <a:txBody>
                    <a:bodyPr/>
                    <a:lstStyle/>
                    <a:p>
                      <a:pPr marL="0" marR="0" rtl="0">
                        <a:spcAft>
                          <a:spcPts val="2400"/>
                        </a:spcAft>
                        <a:buNone/>
                      </a:pPr>
                      <a:r>
                        <a:rPr lang="en-US" dirty="0">
                          <a:solidFill>
                            <a:srgbClr val="1F1F1F"/>
                          </a:solidFill>
                          <a:effectLst/>
                          <a:latin typeface="Google Sans Text"/>
                        </a:rPr>
                        <a:t>4</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RAG (Lewis et al.)</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2020</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Combines parametric memory with external knowledge retrieval.</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Domain sensitivity</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25248536"/>
                  </a:ext>
                </a:extLst>
              </a:tr>
              <a:tr h="717625">
                <a:tc>
                  <a:txBody>
                    <a:bodyPr/>
                    <a:lstStyle/>
                    <a:p>
                      <a:pPr marL="0" marR="0" rtl="0">
                        <a:spcAft>
                          <a:spcPts val="2400"/>
                        </a:spcAft>
                        <a:buNone/>
                      </a:pPr>
                      <a:r>
                        <a:rPr lang="en-US" dirty="0">
                          <a:solidFill>
                            <a:srgbClr val="1F1F1F"/>
                          </a:solidFill>
                          <a:effectLst/>
                          <a:latin typeface="Google Sans Text"/>
                        </a:rPr>
                        <a:t>5</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PubMedQA</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2019</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Biomedical question answering dataset based on PubMed abstracts.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Closed-ended (Yes/No/Maybe) format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470707"/>
                  </a:ext>
                </a:extLst>
              </a:tr>
            </a:tbl>
          </a:graphicData>
        </a:graphic>
      </p:graphicFrame>
      <p:sp>
        <p:nvSpPr>
          <p:cNvPr id="11" name="TextBox 10">
            <a:extLst>
              <a:ext uri="{FF2B5EF4-FFF2-40B4-BE49-F238E27FC236}">
                <a16:creationId xmlns:a16="http://schemas.microsoft.com/office/drawing/2014/main" id="{F0DA0EFA-A4E7-C14A-77D1-FB661563C410}"/>
              </a:ext>
            </a:extLst>
          </p:cNvPr>
          <p:cNvSpPr txBox="1"/>
          <p:nvPr/>
        </p:nvSpPr>
        <p:spPr>
          <a:xfrm>
            <a:off x="5071533" y="12038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 </a:t>
            </a:r>
          </a:p>
        </p:txBody>
      </p:sp>
    </p:spTree>
    <p:extLst>
      <p:ext uri="{BB962C8B-B14F-4D97-AF65-F5344CB8AC3E}">
        <p14:creationId xmlns:p14="http://schemas.microsoft.com/office/powerpoint/2010/main" val="2712314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E973-3F7B-44B2-739E-D7DA7299E9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822B57-2B62-200C-7F6B-D10F9DD17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graphicFrame>
        <p:nvGraphicFramePr>
          <p:cNvPr id="9" name="Table 8">
            <a:extLst>
              <a:ext uri="{FF2B5EF4-FFF2-40B4-BE49-F238E27FC236}">
                <a16:creationId xmlns:a16="http://schemas.microsoft.com/office/drawing/2014/main" id="{914D41E0-21A2-5949-3353-8B9C6169332D}"/>
              </a:ext>
            </a:extLst>
          </p:cNvPr>
          <p:cNvGraphicFramePr>
            <a:graphicFrameLocks noGrp="1"/>
          </p:cNvGraphicFramePr>
          <p:nvPr>
            <p:extLst>
              <p:ext uri="{D42A27DB-BD31-4B8C-83A1-F6EECF244321}">
                <p14:modId xmlns:p14="http://schemas.microsoft.com/office/powerpoint/2010/main" val="2784747389"/>
              </p:ext>
            </p:extLst>
          </p:nvPr>
        </p:nvGraphicFramePr>
        <p:xfrm>
          <a:off x="143933" y="1701801"/>
          <a:ext cx="11963400" cy="4533003"/>
        </p:xfrm>
        <a:graphic>
          <a:graphicData uri="http://schemas.openxmlformats.org/drawingml/2006/table">
            <a:tbl>
              <a:tblPr/>
              <a:tblGrid>
                <a:gridCol w="889000">
                  <a:extLst>
                    <a:ext uri="{9D8B030D-6E8A-4147-A177-3AD203B41FA5}">
                      <a16:colId xmlns:a16="http://schemas.microsoft.com/office/drawing/2014/main" val="207665555"/>
                    </a:ext>
                  </a:extLst>
                </a:gridCol>
                <a:gridCol w="1786467">
                  <a:extLst>
                    <a:ext uri="{9D8B030D-6E8A-4147-A177-3AD203B41FA5}">
                      <a16:colId xmlns:a16="http://schemas.microsoft.com/office/drawing/2014/main" val="3902109784"/>
                    </a:ext>
                  </a:extLst>
                </a:gridCol>
                <a:gridCol w="982133">
                  <a:extLst>
                    <a:ext uri="{9D8B030D-6E8A-4147-A177-3AD203B41FA5}">
                      <a16:colId xmlns:a16="http://schemas.microsoft.com/office/drawing/2014/main" val="2524853104"/>
                    </a:ext>
                  </a:extLst>
                </a:gridCol>
                <a:gridCol w="4461934">
                  <a:extLst>
                    <a:ext uri="{9D8B030D-6E8A-4147-A177-3AD203B41FA5}">
                      <a16:colId xmlns:a16="http://schemas.microsoft.com/office/drawing/2014/main" val="1622254581"/>
                    </a:ext>
                  </a:extLst>
                </a:gridCol>
                <a:gridCol w="3843866">
                  <a:extLst>
                    <a:ext uri="{9D8B030D-6E8A-4147-A177-3AD203B41FA5}">
                      <a16:colId xmlns:a16="http://schemas.microsoft.com/office/drawing/2014/main" val="1970995257"/>
                    </a:ext>
                  </a:extLst>
                </a:gridCol>
              </a:tblGrid>
              <a:tr h="424051">
                <a:tc>
                  <a:txBody>
                    <a:bodyPr/>
                    <a:lstStyle/>
                    <a:p>
                      <a:pPr marL="0" marR="0" rtl="0">
                        <a:spcAft>
                          <a:spcPts val="2400"/>
                        </a:spcAft>
                        <a:buNone/>
                      </a:pPr>
                      <a:r>
                        <a:rPr lang="en-US" b="1" dirty="0">
                          <a:solidFill>
                            <a:srgbClr val="1F1F1F"/>
                          </a:solidFill>
                          <a:effectLst/>
                          <a:latin typeface="Google Sans Text"/>
                        </a:rPr>
                        <a:t>S. No</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dirty="0">
                          <a:solidFill>
                            <a:srgbClr val="1F1F1F"/>
                          </a:solidFill>
                          <a:effectLst/>
                          <a:latin typeface="Google Sans Text"/>
                        </a:rPr>
                        <a:t>Research Paper</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Year</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Key Strength</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Main Limitation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40669093"/>
                  </a:ext>
                </a:extLst>
              </a:tr>
              <a:tr h="1011197">
                <a:tc>
                  <a:txBody>
                    <a:bodyPr/>
                    <a:lstStyle/>
                    <a:p>
                      <a:pPr marL="0" marR="0" rtl="0">
                        <a:spcAft>
                          <a:spcPts val="2400"/>
                        </a:spcAft>
                        <a:buNone/>
                      </a:pPr>
                      <a:r>
                        <a:rPr lang="en-US" dirty="0">
                          <a:solidFill>
                            <a:srgbClr val="1F1F1F"/>
                          </a:solidFill>
                          <a:effectLst/>
                          <a:latin typeface="Google Sans Text"/>
                        </a:rPr>
                        <a:t>6</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MedQuAD</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Dataset of 47k+ medical QA pairs from NIH websites.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Lacks real-world electronic health record (EHR) clinical complexity.</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8626283"/>
                  </a:ext>
                </a:extLst>
              </a:tr>
              <a:tr h="717625">
                <a:tc>
                  <a:txBody>
                    <a:bodyPr/>
                    <a:lstStyle/>
                    <a:p>
                      <a:pPr marL="0" marR="0" rtl="0">
                        <a:spcAft>
                          <a:spcPts val="2400"/>
                        </a:spcAft>
                        <a:buNone/>
                      </a:pPr>
                      <a:r>
                        <a:rPr lang="en-US" dirty="0">
                          <a:solidFill>
                            <a:srgbClr val="1F1F1F"/>
                          </a:solidFill>
                          <a:effectLst/>
                          <a:latin typeface="Google Sans Text"/>
                        </a:rPr>
                        <a:t>7</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b="0" dirty="0"/>
                        <a:t>MIMIC-III Dataset</a:t>
                      </a:r>
                    </a:p>
                  </a:txBody>
                  <a:tcPr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US" b="0" dirty="0"/>
                        <a:t>2016</a:t>
                      </a:r>
                      <a:endParaRPr lang="en-IN" b="0" dirty="0"/>
                    </a:p>
                  </a:txBody>
                  <a:tcPr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De-identified ICU clinical database widely used for benchmarks.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Contains noisy, unstructured text and missing clinical values.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42291451"/>
                  </a:ext>
                </a:extLst>
              </a:tr>
              <a:tr h="717625">
                <a:tc>
                  <a:txBody>
                    <a:bodyPr/>
                    <a:lstStyle/>
                    <a:p>
                      <a:pPr marL="0" marR="0" rtl="0">
                        <a:spcAft>
                          <a:spcPts val="2400"/>
                        </a:spcAft>
                        <a:buNone/>
                      </a:pPr>
                      <a:r>
                        <a:rPr lang="en-US" dirty="0">
                          <a:solidFill>
                            <a:srgbClr val="1F1F1F"/>
                          </a:solidFill>
                          <a:effectLst/>
                          <a:latin typeface="Google Sans Text"/>
                        </a:rPr>
                        <a:t>8</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ChromaDB</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2023</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Lightweight, open-source vector database for similarity search.</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Can face scalability issues with massive enterprise data.</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12742220"/>
                  </a:ext>
                </a:extLst>
              </a:tr>
              <a:tr h="717625">
                <a:tc>
                  <a:txBody>
                    <a:bodyPr/>
                    <a:lstStyle/>
                    <a:p>
                      <a:pPr marL="0" marR="0" rtl="0">
                        <a:spcAft>
                          <a:spcPts val="2400"/>
                        </a:spcAft>
                        <a:buNone/>
                      </a:pPr>
                      <a:r>
                        <a:rPr lang="en-US" dirty="0">
                          <a:solidFill>
                            <a:srgbClr val="1F1F1F"/>
                          </a:solidFill>
                          <a:effectLst/>
                          <a:latin typeface="Google Sans Text"/>
                        </a:rPr>
                        <a:t>9</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Llama 3 (8B)</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2024</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State-of-the-art open-weight 8-billion parameter LLM.</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Risk of hallucinations without grounding in external medical databases.</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25248536"/>
                  </a:ext>
                </a:extLst>
              </a:tr>
              <a:tr h="717625">
                <a:tc>
                  <a:txBody>
                    <a:bodyPr/>
                    <a:lstStyle/>
                    <a:p>
                      <a:pPr marL="0" marR="0" rtl="0">
                        <a:spcAft>
                          <a:spcPts val="2400"/>
                        </a:spcAft>
                        <a:buNone/>
                      </a:pPr>
                      <a:r>
                        <a:rPr lang="en-US" dirty="0">
                          <a:solidFill>
                            <a:srgbClr val="1F1F1F"/>
                          </a:solidFill>
                          <a:effectLst/>
                          <a:latin typeface="Google Sans Text"/>
                        </a:rPr>
                        <a:t>10</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err="1"/>
                        <a:t>ClinicaRAG</a:t>
                      </a:r>
                      <a:r>
                        <a:rPr lang="en-IN" dirty="0"/>
                        <a:t> </a:t>
                      </a:r>
                      <a:r>
                        <a:rPr lang="en-IN" i="1" dirty="0"/>
                        <a:t>(Ours)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2026</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CDSS combining Clinical LMs, Llama 3, </a:t>
                      </a:r>
                      <a:r>
                        <a:rPr lang="en-IN" dirty="0" err="1"/>
                        <a:t>ChromaDB</a:t>
                      </a:r>
                      <a:r>
                        <a:rPr lang="en-IN" dirty="0"/>
                        <a:t>, &amp; RAG.</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Requires strict clinical validation and evaluation</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470707"/>
                  </a:ext>
                </a:extLst>
              </a:tr>
            </a:tbl>
          </a:graphicData>
        </a:graphic>
      </p:graphicFrame>
      <p:sp>
        <p:nvSpPr>
          <p:cNvPr id="11" name="TextBox 10">
            <a:extLst>
              <a:ext uri="{FF2B5EF4-FFF2-40B4-BE49-F238E27FC236}">
                <a16:creationId xmlns:a16="http://schemas.microsoft.com/office/drawing/2014/main" id="{84C196B5-2630-734D-3CF2-781DAFE22941}"/>
              </a:ext>
            </a:extLst>
          </p:cNvPr>
          <p:cNvSpPr txBox="1"/>
          <p:nvPr/>
        </p:nvSpPr>
        <p:spPr>
          <a:xfrm>
            <a:off x="5113866" y="11276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a:t>
            </a:r>
          </a:p>
        </p:txBody>
      </p:sp>
    </p:spTree>
    <p:extLst>
      <p:ext uri="{BB962C8B-B14F-4D97-AF65-F5344CB8AC3E}">
        <p14:creationId xmlns:p14="http://schemas.microsoft.com/office/powerpoint/2010/main" val="234306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BE5D-7BBC-68EA-8AC7-05D50F3927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3D3B1ED-CD73-8A8C-CE56-80BD22141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11" name="TextBox 10">
            <a:extLst>
              <a:ext uri="{FF2B5EF4-FFF2-40B4-BE49-F238E27FC236}">
                <a16:creationId xmlns:a16="http://schemas.microsoft.com/office/drawing/2014/main" id="{A4DD4980-8DB8-951A-E465-D1D2B9069EEE}"/>
              </a:ext>
            </a:extLst>
          </p:cNvPr>
          <p:cNvSpPr txBox="1"/>
          <p:nvPr/>
        </p:nvSpPr>
        <p:spPr>
          <a:xfrm>
            <a:off x="5113866" y="11276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a:t>
            </a:r>
          </a:p>
        </p:txBody>
      </p:sp>
      <p:sp>
        <p:nvSpPr>
          <p:cNvPr id="2" name="TextBox 1">
            <a:extLst>
              <a:ext uri="{FF2B5EF4-FFF2-40B4-BE49-F238E27FC236}">
                <a16:creationId xmlns:a16="http://schemas.microsoft.com/office/drawing/2014/main" id="{8930141C-5B69-8046-B373-CBD06E63B146}"/>
              </a:ext>
            </a:extLst>
          </p:cNvPr>
          <p:cNvSpPr txBox="1"/>
          <p:nvPr/>
        </p:nvSpPr>
        <p:spPr>
          <a:xfrm>
            <a:off x="448733" y="1661154"/>
            <a:ext cx="11319933" cy="4247317"/>
          </a:xfrm>
          <a:prstGeom prst="rect">
            <a:avLst/>
          </a:prstGeom>
          <a:noFill/>
        </p:spPr>
        <p:txBody>
          <a:bodyPr wrap="square" rtlCol="0">
            <a:spAutoFit/>
          </a:bodyPr>
          <a:lstStyle/>
          <a:p>
            <a:pPr lvl="0"/>
            <a:endParaRPr lang="en-IN" b="1" dirty="0"/>
          </a:p>
          <a:p>
            <a:pPr lvl="0"/>
            <a:r>
              <a:rPr lang="en-IN" b="1" dirty="0"/>
              <a:t>BERT:</a:t>
            </a:r>
            <a:r>
              <a:rPr lang="en-IN" dirty="0"/>
              <a:t> BERT is limited by a 512-token window and needs fine-tuning. </a:t>
            </a:r>
            <a:r>
              <a:rPr lang="en-IN" b="1" dirty="0" err="1"/>
              <a:t>ClinicaRAG</a:t>
            </a:r>
            <a:r>
              <a:rPr lang="en-IN" dirty="0"/>
              <a:t> bypasses length limits using chunked retrieval and generative reasoning with frozen weights.</a:t>
            </a:r>
          </a:p>
          <a:p>
            <a:pPr lvl="0"/>
            <a:endParaRPr lang="en-IN" b="1" dirty="0"/>
          </a:p>
          <a:p>
            <a:pPr lvl="0"/>
            <a:r>
              <a:rPr lang="en-IN" b="1" dirty="0" err="1"/>
              <a:t>BioBERT</a:t>
            </a:r>
            <a:r>
              <a:rPr lang="en-IN" b="1" dirty="0"/>
              <a:t>:</a:t>
            </a:r>
            <a:r>
              <a:rPr lang="en-IN" dirty="0"/>
              <a:t> </a:t>
            </a:r>
            <a:r>
              <a:rPr lang="en-IN" dirty="0" err="1"/>
              <a:t>BioBERT</a:t>
            </a:r>
            <a:r>
              <a:rPr lang="en-IN" dirty="0"/>
              <a:t> identifies clinical entities ("what"), but misses treatment logic ("why/how"). </a:t>
            </a:r>
            <a:r>
              <a:rPr lang="en-IN" b="1" dirty="0" err="1"/>
              <a:t>ClinicaRAG</a:t>
            </a:r>
            <a:r>
              <a:rPr lang="en-IN" dirty="0"/>
              <a:t> turns those labels into active search queries for real-time support.</a:t>
            </a:r>
          </a:p>
          <a:p>
            <a:pPr lvl="0"/>
            <a:endParaRPr lang="en-IN" b="1" dirty="0"/>
          </a:p>
          <a:p>
            <a:pPr lvl="0"/>
            <a:r>
              <a:rPr lang="en-IN" b="1" dirty="0" err="1"/>
              <a:t>ClinicalBERT</a:t>
            </a:r>
            <a:r>
              <a:rPr lang="en-IN" b="1" dirty="0"/>
              <a:t>:</a:t>
            </a:r>
            <a:r>
              <a:rPr lang="en-IN" dirty="0"/>
              <a:t> </a:t>
            </a:r>
            <a:r>
              <a:rPr lang="en-IN" dirty="0" err="1"/>
              <a:t>ClinicalBERT</a:t>
            </a:r>
            <a:r>
              <a:rPr lang="en-IN" dirty="0"/>
              <a:t> handles electronic health records (EHR) but lacks generative power. </a:t>
            </a:r>
            <a:r>
              <a:rPr lang="en-IN" b="1" dirty="0" err="1"/>
              <a:t>ClinicaRAG</a:t>
            </a:r>
            <a:r>
              <a:rPr lang="en-IN" dirty="0"/>
              <a:t> combines clinical context into a large-scale generative workflow to build multi-source treatment plans.</a:t>
            </a:r>
          </a:p>
          <a:p>
            <a:pPr lvl="0"/>
            <a:endParaRPr lang="en-IN" b="1" dirty="0"/>
          </a:p>
          <a:p>
            <a:pPr lvl="0"/>
            <a:r>
              <a:rPr lang="en-IN" b="1" dirty="0"/>
              <a:t>Standard RAG (Lewis et al.):</a:t>
            </a:r>
            <a:r>
              <a:rPr lang="en-IN" dirty="0"/>
              <a:t> Standard RAG uses noisy raw text for retrieval. </a:t>
            </a:r>
            <a:r>
              <a:rPr lang="en-IN" b="1" dirty="0" err="1"/>
              <a:t>ClinicaRAG</a:t>
            </a:r>
            <a:r>
              <a:rPr lang="en-IN" dirty="0"/>
              <a:t> uses a "Signal-over-Noise" filter relying on extracted medical entities instead of raw sentences.</a:t>
            </a:r>
          </a:p>
          <a:p>
            <a:pPr lvl="0"/>
            <a:endParaRPr lang="en-IN" b="1" dirty="0"/>
          </a:p>
          <a:p>
            <a:pPr lvl="0"/>
            <a:r>
              <a:rPr lang="en-IN" b="1" dirty="0" err="1"/>
              <a:t>PubMedQA</a:t>
            </a:r>
            <a:r>
              <a:rPr lang="en-IN" b="1" dirty="0"/>
              <a:t>:</a:t>
            </a:r>
            <a:r>
              <a:rPr lang="en-IN" dirty="0"/>
              <a:t> </a:t>
            </a:r>
            <a:r>
              <a:rPr lang="en-IN" dirty="0" err="1"/>
              <a:t>PubMedQA</a:t>
            </a:r>
            <a:r>
              <a:rPr lang="en-IN" dirty="0"/>
              <a:t> is a static QA benchmark. </a:t>
            </a:r>
            <a:r>
              <a:rPr lang="en-IN" b="1" dirty="0" err="1"/>
              <a:t>ClinicaRAG</a:t>
            </a:r>
            <a:r>
              <a:rPr lang="en-IN" dirty="0"/>
              <a:t> turns static knowledge into a live, interactive clinical workflow tailored to changing patient symptoms.</a:t>
            </a:r>
          </a:p>
        </p:txBody>
      </p:sp>
    </p:spTree>
    <p:extLst>
      <p:ext uri="{BB962C8B-B14F-4D97-AF65-F5344CB8AC3E}">
        <p14:creationId xmlns:p14="http://schemas.microsoft.com/office/powerpoint/2010/main" val="373106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7E33-68F4-FEC3-649D-E6442018F3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E94856-1CAC-CA97-E810-EBC7EECB68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11" name="TextBox 10">
            <a:extLst>
              <a:ext uri="{FF2B5EF4-FFF2-40B4-BE49-F238E27FC236}">
                <a16:creationId xmlns:a16="http://schemas.microsoft.com/office/drawing/2014/main" id="{33400EE4-10AE-3CB5-2A38-F52D909F6632}"/>
              </a:ext>
            </a:extLst>
          </p:cNvPr>
          <p:cNvSpPr txBox="1"/>
          <p:nvPr/>
        </p:nvSpPr>
        <p:spPr>
          <a:xfrm>
            <a:off x="5113866" y="11276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a:t>
            </a:r>
          </a:p>
        </p:txBody>
      </p:sp>
      <p:sp>
        <p:nvSpPr>
          <p:cNvPr id="2" name="TextBox 1">
            <a:extLst>
              <a:ext uri="{FF2B5EF4-FFF2-40B4-BE49-F238E27FC236}">
                <a16:creationId xmlns:a16="http://schemas.microsoft.com/office/drawing/2014/main" id="{3F2E954B-59DF-022D-1F6A-FD8023635589}"/>
              </a:ext>
            </a:extLst>
          </p:cNvPr>
          <p:cNvSpPr txBox="1"/>
          <p:nvPr/>
        </p:nvSpPr>
        <p:spPr>
          <a:xfrm>
            <a:off x="482600" y="1923620"/>
            <a:ext cx="11319933" cy="3416320"/>
          </a:xfrm>
          <a:prstGeom prst="rect">
            <a:avLst/>
          </a:prstGeom>
          <a:noFill/>
        </p:spPr>
        <p:txBody>
          <a:bodyPr wrap="square" rtlCol="0">
            <a:spAutoFit/>
          </a:bodyPr>
          <a:lstStyle/>
          <a:p>
            <a:pPr lvl="0"/>
            <a:endParaRPr lang="en-IN" b="1" dirty="0"/>
          </a:p>
          <a:p>
            <a:pPr lvl="0"/>
            <a:r>
              <a:rPr lang="en-IN" b="1" dirty="0" err="1"/>
              <a:t>MedQuAD</a:t>
            </a:r>
            <a:r>
              <a:rPr lang="en-IN" b="1" dirty="0"/>
              <a:t>:</a:t>
            </a:r>
            <a:r>
              <a:rPr lang="en-IN" dirty="0"/>
              <a:t> </a:t>
            </a:r>
            <a:r>
              <a:rPr lang="en-IN" dirty="0" err="1"/>
              <a:t>MedQuAD</a:t>
            </a:r>
            <a:r>
              <a:rPr lang="en-IN" dirty="0"/>
              <a:t> is a massive data repository without clinical logic. </a:t>
            </a:r>
            <a:r>
              <a:rPr lang="en-IN" b="1" dirty="0" err="1"/>
              <a:t>ClinicaRAG</a:t>
            </a:r>
            <a:r>
              <a:rPr lang="en-IN" dirty="0"/>
              <a:t> acts as the reasoning engine that connects those records to specific patient cases.</a:t>
            </a:r>
          </a:p>
          <a:p>
            <a:pPr lvl="0"/>
            <a:endParaRPr lang="en-IN" b="1" dirty="0"/>
          </a:p>
          <a:p>
            <a:pPr lvl="0"/>
            <a:r>
              <a:rPr lang="en-IN" b="1" dirty="0"/>
              <a:t>MIMIC-III:</a:t>
            </a:r>
            <a:r>
              <a:rPr lang="en-IN" dirty="0"/>
              <a:t> MIMIC-III is a retrospective research database, not a point-of-care tool. </a:t>
            </a:r>
            <a:r>
              <a:rPr lang="en-IN" b="1" dirty="0" err="1"/>
              <a:t>ClinicaRAG</a:t>
            </a:r>
            <a:r>
              <a:rPr lang="en-IN" dirty="0"/>
              <a:t> transforms historical data into active, real-time clinical support.</a:t>
            </a:r>
          </a:p>
          <a:p>
            <a:pPr lvl="0"/>
            <a:endParaRPr lang="en-IN" b="1" dirty="0"/>
          </a:p>
          <a:p>
            <a:pPr lvl="0"/>
            <a:r>
              <a:rPr lang="en-IN" b="1" dirty="0" err="1"/>
              <a:t>ChromaDB</a:t>
            </a:r>
            <a:r>
              <a:rPr lang="en-IN" b="1" dirty="0"/>
              <a:t>:</a:t>
            </a:r>
            <a:r>
              <a:rPr lang="en-IN" dirty="0"/>
              <a:t> </a:t>
            </a:r>
            <a:r>
              <a:rPr lang="en-IN" dirty="0" err="1"/>
              <a:t>ChromaDB</a:t>
            </a:r>
            <a:r>
              <a:rPr lang="en-IN" dirty="0"/>
              <a:t> provides database storage but doesn't understand medicine. </a:t>
            </a:r>
            <a:r>
              <a:rPr lang="en-IN" b="1" dirty="0" err="1"/>
              <a:t>ClinicaRAG</a:t>
            </a:r>
            <a:r>
              <a:rPr lang="en-IN" dirty="0"/>
              <a:t> adds a "Medical Intelligence Layer" to tell </a:t>
            </a:r>
            <a:r>
              <a:rPr lang="en-IN" dirty="0" err="1"/>
              <a:t>ChromaDB</a:t>
            </a:r>
            <a:r>
              <a:rPr lang="en-IN" dirty="0"/>
              <a:t> which clinical markers matter most.</a:t>
            </a:r>
          </a:p>
          <a:p>
            <a:pPr lvl="0"/>
            <a:endParaRPr lang="en-IN" b="1" dirty="0"/>
          </a:p>
          <a:p>
            <a:pPr lvl="0"/>
            <a:r>
              <a:rPr lang="en-IN" b="1" dirty="0"/>
              <a:t>Llama 3 (8B):</a:t>
            </a:r>
            <a:r>
              <a:rPr lang="en-IN" dirty="0"/>
              <a:t> Llama 3 can hallucinate incorrect medical facts. </a:t>
            </a:r>
            <a:r>
              <a:rPr lang="en-IN" b="1" dirty="0" err="1"/>
              <a:t>ClinicaRAG</a:t>
            </a:r>
            <a:r>
              <a:rPr lang="en-IN" dirty="0"/>
              <a:t> grounds Llama 3 in verified sources, ensuring every output is backed by citations.</a:t>
            </a:r>
          </a:p>
        </p:txBody>
      </p:sp>
    </p:spTree>
    <p:extLst>
      <p:ext uri="{BB962C8B-B14F-4D97-AF65-F5344CB8AC3E}">
        <p14:creationId xmlns:p14="http://schemas.microsoft.com/office/powerpoint/2010/main" val="733485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EFA2-EFD5-8653-B6C1-7094DF2F0EF9}"/>
            </a:ext>
          </a:extLst>
        </p:cNvPr>
        <p:cNvGrpSpPr/>
        <p:nvPr/>
      </p:nvGrpSpPr>
      <p:grpSpPr>
        <a:xfrm>
          <a:off x="0" y="0"/>
          <a:ext cx="0" cy="0"/>
          <a:chOff x="0" y="0"/>
          <a:chExt cx="0" cy="0"/>
        </a:xfrm>
      </p:grpSpPr>
      <p:pic>
        <p:nvPicPr>
          <p:cNvPr id="4" name="Picture 3" descr="PlantUML Diagram">
            <a:extLst>
              <a:ext uri="{FF2B5EF4-FFF2-40B4-BE49-F238E27FC236}">
                <a16:creationId xmlns:a16="http://schemas.microsoft.com/office/drawing/2014/main" id="{9F8E433E-A3E2-9A35-C198-E94274FF6259}"/>
              </a:ext>
            </a:extLst>
          </p:cNvPr>
          <p:cNvPicPr>
            <a:picLocks noChangeAspect="1"/>
          </p:cNvPicPr>
          <p:nvPr/>
        </p:nvPicPr>
        <p:blipFill>
          <a:blip r:embed="rId2"/>
          <a:stretch>
            <a:fillRect/>
          </a:stretch>
        </p:blipFill>
        <p:spPr>
          <a:xfrm>
            <a:off x="2319867" y="148103"/>
            <a:ext cx="7357532" cy="6608055"/>
          </a:xfrm>
          <a:prstGeom prst="rect">
            <a:avLst/>
          </a:prstGeom>
        </p:spPr>
      </p:pic>
    </p:spTree>
    <p:extLst>
      <p:ext uri="{BB962C8B-B14F-4D97-AF65-F5344CB8AC3E}">
        <p14:creationId xmlns:p14="http://schemas.microsoft.com/office/powerpoint/2010/main" val="423043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568B-5A5E-85B2-3E92-E9DF2410F4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BE3111-EFD8-6AF2-900E-63B57569A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pic>
        <p:nvPicPr>
          <p:cNvPr id="3" name="Picture 2" descr="PlantUML Diagram">
            <a:extLst>
              <a:ext uri="{FF2B5EF4-FFF2-40B4-BE49-F238E27FC236}">
                <a16:creationId xmlns:a16="http://schemas.microsoft.com/office/drawing/2014/main" id="{AF7329F2-812F-9E16-7DC0-E26FA4777167}"/>
              </a:ext>
            </a:extLst>
          </p:cNvPr>
          <p:cNvPicPr>
            <a:picLocks noChangeAspect="1"/>
          </p:cNvPicPr>
          <p:nvPr/>
        </p:nvPicPr>
        <p:blipFill>
          <a:blip r:embed="rId3"/>
          <a:stretch>
            <a:fillRect/>
          </a:stretch>
        </p:blipFill>
        <p:spPr>
          <a:xfrm>
            <a:off x="1761067" y="1109134"/>
            <a:ext cx="8913916" cy="5560484"/>
          </a:xfrm>
          <a:prstGeom prst="rect">
            <a:avLst/>
          </a:prstGeom>
        </p:spPr>
      </p:pic>
    </p:spTree>
    <p:extLst>
      <p:ext uri="{BB962C8B-B14F-4D97-AF65-F5344CB8AC3E}">
        <p14:creationId xmlns:p14="http://schemas.microsoft.com/office/powerpoint/2010/main" val="4028953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AC9A9C-6AD7-9C54-01CF-CBCD0B243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AE7088FF-EF0D-406A-8B5A-FBFFE903A42C}"/>
              </a:ext>
            </a:extLst>
          </p:cNvPr>
          <p:cNvSpPr txBox="1"/>
          <p:nvPr/>
        </p:nvSpPr>
        <p:spPr>
          <a:xfrm>
            <a:off x="4292600" y="1320800"/>
            <a:ext cx="5249333" cy="430887"/>
          </a:xfrm>
          <a:prstGeom prst="rect">
            <a:avLst/>
          </a:prstGeom>
          <a:noFill/>
        </p:spPr>
        <p:txBody>
          <a:bodyPr wrap="square" rtlCol="0">
            <a:spAutoFit/>
          </a:bodyPr>
          <a:lstStyle/>
          <a:p>
            <a:r>
              <a:rPr lang="en-IN" sz="2200" b="1" dirty="0"/>
              <a:t>Research Gap Identification</a:t>
            </a:r>
          </a:p>
        </p:txBody>
      </p:sp>
      <p:sp>
        <p:nvSpPr>
          <p:cNvPr id="7" name="TextBox 6">
            <a:extLst>
              <a:ext uri="{FF2B5EF4-FFF2-40B4-BE49-F238E27FC236}">
                <a16:creationId xmlns:a16="http://schemas.microsoft.com/office/drawing/2014/main" id="{5BD799FE-8D4D-8D9E-E5C3-A5BD0D235E1A}"/>
              </a:ext>
            </a:extLst>
          </p:cNvPr>
          <p:cNvSpPr txBox="1"/>
          <p:nvPr/>
        </p:nvSpPr>
        <p:spPr>
          <a:xfrm>
            <a:off x="1676400" y="2480733"/>
            <a:ext cx="9330267"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Gap 1: Disconnect Between Entity Extraction and Context Retrieval:</a:t>
            </a:r>
            <a:r>
              <a:rPr lang="en-IN" dirty="0"/>
              <a:t> Existing CDSS architectures perform either entity extraction or vector retrieval independently, missing the synergy of using extracted medical entities to drive precision RAG queries.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2: Absence of Verifiable Citations in Generative Medical AI:</a:t>
            </a:r>
            <a:r>
              <a:rPr lang="en-IN" dirty="0"/>
              <a:t> Most generative models provide answers without linking specific recommendations back to underlying medical QA databases or literature.</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3: High Resource &amp; Cost Barriers:</a:t>
            </a:r>
            <a:r>
              <a:rPr lang="en-IN" dirty="0"/>
              <a:t> Enterprise CDSS solutions are proprietary, expensive, and demand heavy GPU infrastructure, limiting deployment in resource-constrained environments.</a:t>
            </a:r>
          </a:p>
        </p:txBody>
      </p:sp>
    </p:spTree>
    <p:extLst>
      <p:ext uri="{BB962C8B-B14F-4D97-AF65-F5344CB8AC3E}">
        <p14:creationId xmlns:p14="http://schemas.microsoft.com/office/powerpoint/2010/main" val="1321699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B04C-7359-847C-88A0-6AA45EF44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0BE1C8-6990-9BED-144C-A1C3BA8BC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3" name="TextBox 2">
            <a:extLst>
              <a:ext uri="{FF2B5EF4-FFF2-40B4-BE49-F238E27FC236}">
                <a16:creationId xmlns:a16="http://schemas.microsoft.com/office/drawing/2014/main" id="{BF79DB67-4E62-F4A9-0F84-D7EF1DCA261F}"/>
              </a:ext>
            </a:extLst>
          </p:cNvPr>
          <p:cNvSpPr txBox="1"/>
          <p:nvPr/>
        </p:nvSpPr>
        <p:spPr>
          <a:xfrm>
            <a:off x="778932" y="1369621"/>
            <a:ext cx="10278533" cy="3323987"/>
          </a:xfrm>
          <a:prstGeom prst="rect">
            <a:avLst/>
          </a:prstGeom>
          <a:noFill/>
        </p:spPr>
        <p:txBody>
          <a:bodyPr wrap="square">
            <a:spAutoFit/>
          </a:bodyPr>
          <a:lstStyle/>
          <a:p>
            <a:pPr algn="ctr"/>
            <a:r>
              <a:rPr lang="en-IN" sz="2200" b="1" dirty="0"/>
              <a:t>Datasets</a:t>
            </a:r>
          </a:p>
          <a:p>
            <a:pPr algn="ctr"/>
            <a:endParaRPr lang="en-IN" sz="2200" b="1" dirty="0"/>
          </a:p>
          <a:p>
            <a:pPr algn="ctr"/>
            <a:endParaRPr lang="en-IN" sz="2200" b="1"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MedQuAD : medical QA dataset - 16,359 valid records</a:t>
            </a:r>
          </a:p>
          <a:p>
            <a:r>
              <a:rPr lang="en-IN" dirty="0"/>
              <a:t>Sourced from GitHub</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PubMedQA</a:t>
            </a:r>
            <a:r>
              <a:rPr lang="en-IN" dirty="0"/>
              <a:t> : Medical Transcriptions Raw - Extracted 4 core medical entities </a:t>
            </a:r>
          </a:p>
          <a:p>
            <a:r>
              <a:rPr lang="en-IN" dirty="0"/>
              <a:t>Sourced from Kaggle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534381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08B404-5853-6DB4-9054-BB7EA572A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7" name="TextBox 6">
            <a:extLst>
              <a:ext uri="{FF2B5EF4-FFF2-40B4-BE49-F238E27FC236}">
                <a16:creationId xmlns:a16="http://schemas.microsoft.com/office/drawing/2014/main" id="{6685732A-6B08-AE6B-83A8-5EEA5F99D943}"/>
              </a:ext>
            </a:extLst>
          </p:cNvPr>
          <p:cNvSpPr txBox="1"/>
          <p:nvPr/>
        </p:nvSpPr>
        <p:spPr>
          <a:xfrm>
            <a:off x="423333" y="1244601"/>
            <a:ext cx="11590867" cy="5078313"/>
          </a:xfrm>
          <a:prstGeom prst="rect">
            <a:avLst/>
          </a:prstGeom>
          <a:noFill/>
        </p:spPr>
        <p:txBody>
          <a:bodyPr wrap="square" rtlCol="0">
            <a:spAutoFit/>
          </a:bodyPr>
          <a:lstStyle/>
          <a:p>
            <a:pPr algn="ctr"/>
            <a:r>
              <a:rPr lang="en-IN" b="1" dirty="0"/>
              <a:t>Innovation (Technical Advancements)</a:t>
            </a:r>
          </a:p>
          <a:p>
            <a:pPr marL="285750" lvl="0" indent="-285750">
              <a:buFont typeface="Arial" panose="020B0604020202020204" pitchFamily="34" charset="0"/>
              <a:buChar char="•"/>
            </a:pPr>
            <a:r>
              <a:rPr lang="en-IN" b="1" dirty="0"/>
              <a:t>Entity-Guided RAG Querying:</a:t>
            </a:r>
            <a:r>
              <a:rPr lang="en-IN" dirty="0"/>
              <a:t> Uses </a:t>
            </a:r>
            <a:r>
              <a:rPr lang="en-IN" dirty="0" err="1"/>
              <a:t>BioBERT</a:t>
            </a:r>
            <a:r>
              <a:rPr lang="en-IN" dirty="0"/>
              <a:t> NER to convert raw clinical notes into structured entity queries (symptoms, drugs, labs) before searching </a:t>
            </a:r>
            <a:r>
              <a:rPr lang="en-IN" dirty="0" err="1"/>
              <a:t>ChromaDB</a:t>
            </a:r>
            <a:r>
              <a:rPr lang="en-IN" dirty="0"/>
              <a:t>, eliminating noise from raw-text vector search.</a:t>
            </a:r>
          </a:p>
          <a:p>
            <a:pPr marL="285750" lvl="0" indent="-285750">
              <a:buFont typeface="Arial" panose="020B0604020202020204" pitchFamily="34" charset="0"/>
              <a:buChar char="•"/>
            </a:pPr>
            <a:r>
              <a:rPr lang="en-IN" b="1" dirty="0"/>
              <a:t>Two-Stage Hybrid Architecture:</a:t>
            </a:r>
            <a:r>
              <a:rPr lang="en-IN" dirty="0"/>
              <a:t> Fuses specialized biomedical transformer encoders (</a:t>
            </a:r>
            <a:r>
              <a:rPr lang="en-IN" dirty="0" err="1"/>
              <a:t>BioBERT</a:t>
            </a:r>
            <a:r>
              <a:rPr lang="en-IN" dirty="0"/>
              <a:t>) with generative LLM reasoning (Llama 3) in a unified pipeline.</a:t>
            </a:r>
          </a:p>
          <a:p>
            <a:pPr algn="ctr"/>
            <a:endParaRPr lang="en-IN" b="1" dirty="0"/>
          </a:p>
          <a:p>
            <a:pPr algn="ctr"/>
            <a:r>
              <a:rPr lang="en-IN" b="1" dirty="0"/>
              <a:t>Creativity (Unique Features &amp; UX)</a:t>
            </a:r>
          </a:p>
          <a:p>
            <a:pPr marL="285750" lvl="0" indent="-285750">
              <a:buFont typeface="Arial" panose="020B0604020202020204" pitchFamily="34" charset="0"/>
              <a:buChar char="•"/>
            </a:pPr>
            <a:r>
              <a:rPr lang="en-IN" b="1" dirty="0"/>
              <a:t>Dynamic "What-If" Symptom Sandbox:</a:t>
            </a:r>
            <a:r>
              <a:rPr lang="en-IN" dirty="0"/>
              <a:t> Interactive dashboard feature allowing clinicians to toggle or modify patient symptoms in real-time to see live diagnostic updates.</a:t>
            </a:r>
          </a:p>
          <a:p>
            <a:pPr marL="285750" lvl="0" indent="-285750">
              <a:buFont typeface="Arial" panose="020B0604020202020204" pitchFamily="34" charset="0"/>
              <a:buChar char="•"/>
            </a:pPr>
            <a:r>
              <a:rPr lang="en-IN" b="1" dirty="0"/>
              <a:t>Automated Red-Flag Safety Shield:</a:t>
            </a:r>
            <a:r>
              <a:rPr lang="en-IN" dirty="0"/>
              <a:t> Real-time safety layer that cross-references extracted medications against patient symptoms to flag contraindications before generating clinical recommendations.</a:t>
            </a:r>
          </a:p>
          <a:p>
            <a:pPr algn="ctr"/>
            <a:endParaRPr lang="en-IN" b="1" dirty="0"/>
          </a:p>
          <a:p>
            <a:pPr algn="ctr"/>
            <a:r>
              <a:rPr lang="en-IN" b="1" dirty="0"/>
              <a:t>Novelty (Unique Value Proposition)</a:t>
            </a:r>
          </a:p>
          <a:p>
            <a:pPr marL="285750" lvl="0" indent="-285750">
              <a:buFont typeface="Arial" panose="020B0604020202020204" pitchFamily="34" charset="0"/>
              <a:buChar char="•"/>
            </a:pPr>
            <a:r>
              <a:rPr lang="en-IN" b="1" dirty="0"/>
              <a:t>Verifiable Citation Grounding:</a:t>
            </a:r>
            <a:r>
              <a:rPr lang="en-IN" dirty="0"/>
              <a:t> Guarantees every diagnostic suggestion is explicitly back-referenced to supporting passages from PubMed and MedQuAD literature.</a:t>
            </a:r>
          </a:p>
          <a:p>
            <a:pPr marL="285750" lvl="0" indent="-285750">
              <a:buFont typeface="Arial" panose="020B0604020202020204" pitchFamily="34" charset="0"/>
              <a:buChar char="•"/>
            </a:pPr>
            <a:r>
              <a:rPr lang="en-IN" b="1" dirty="0"/>
              <a:t>100% Free &amp; Open-Source Stack:</a:t>
            </a:r>
            <a:r>
              <a:rPr lang="en-IN" dirty="0"/>
              <a:t> Demonstrates enterprise-grade clinical decision support using a zero-cost architecture (</a:t>
            </a:r>
            <a:r>
              <a:rPr lang="en-IN" dirty="0" err="1"/>
              <a:t>BioBERT</a:t>
            </a:r>
            <a:r>
              <a:rPr lang="en-IN" dirty="0"/>
              <a:t>, Llama 3 8B, </a:t>
            </a:r>
            <a:r>
              <a:rPr lang="en-IN" dirty="0" err="1"/>
              <a:t>ChromaDB</a:t>
            </a:r>
            <a:r>
              <a:rPr lang="en-IN" dirty="0"/>
              <a:t>, and </a:t>
            </a:r>
            <a:r>
              <a:rPr lang="en-IN" dirty="0" err="1"/>
              <a:t>Streamlit</a:t>
            </a:r>
            <a:r>
              <a:rPr lang="en-IN" dirty="0"/>
              <a:t>).</a:t>
            </a:r>
          </a:p>
          <a:p>
            <a:endParaRPr lang="en-IN" dirty="0"/>
          </a:p>
        </p:txBody>
      </p:sp>
    </p:spTree>
    <p:extLst>
      <p:ext uri="{BB962C8B-B14F-4D97-AF65-F5344CB8AC3E}">
        <p14:creationId xmlns:p14="http://schemas.microsoft.com/office/powerpoint/2010/main" val="282500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E2F0D2-03E4-F8DA-FDBD-53194B114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CA27927D-EFE6-DCF7-A9C4-EBBBD1500620}"/>
              </a:ext>
            </a:extLst>
          </p:cNvPr>
          <p:cNvSpPr txBox="1"/>
          <p:nvPr/>
        </p:nvSpPr>
        <p:spPr>
          <a:xfrm>
            <a:off x="4622800" y="1380066"/>
            <a:ext cx="6527800" cy="430887"/>
          </a:xfrm>
          <a:prstGeom prst="rect">
            <a:avLst/>
          </a:prstGeom>
          <a:noFill/>
        </p:spPr>
        <p:txBody>
          <a:bodyPr wrap="square" rtlCol="0">
            <a:spAutoFit/>
          </a:bodyPr>
          <a:lstStyle/>
          <a:p>
            <a:r>
              <a:rPr lang="en-IN" sz="2200" b="1" dirty="0"/>
              <a:t>Feasibility Analysis</a:t>
            </a:r>
          </a:p>
        </p:txBody>
      </p:sp>
      <p:sp>
        <p:nvSpPr>
          <p:cNvPr id="7" name="TextBox 6">
            <a:extLst>
              <a:ext uri="{FF2B5EF4-FFF2-40B4-BE49-F238E27FC236}">
                <a16:creationId xmlns:a16="http://schemas.microsoft.com/office/drawing/2014/main" id="{345FE54F-73D0-0083-7E9B-D942A3278112}"/>
              </a:ext>
            </a:extLst>
          </p:cNvPr>
          <p:cNvSpPr txBox="1"/>
          <p:nvPr/>
        </p:nvSpPr>
        <p:spPr>
          <a:xfrm>
            <a:off x="1583266" y="2463800"/>
            <a:ext cx="9347200"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Technical Feasibility:</a:t>
            </a:r>
            <a:r>
              <a:rPr lang="en-IN" dirty="0"/>
              <a:t> Leverages lightweight pre-trained models (</a:t>
            </a:r>
            <a:r>
              <a:rPr lang="en-IN" dirty="0" err="1"/>
              <a:t>BioBERT</a:t>
            </a:r>
            <a:r>
              <a:rPr lang="en-IN" dirty="0"/>
              <a:t>) and quantized open-weights LLMs (Llama 3 8B) capable of running on free GPU tiers.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Data Feasibility:</a:t>
            </a:r>
            <a:r>
              <a:rPr lang="en-IN" dirty="0"/>
              <a:t> Uses open-access medical QA datasets (MedQuAD, </a:t>
            </a:r>
            <a:r>
              <a:rPr lang="en-IN" dirty="0" err="1"/>
              <a:t>PubMedQA</a:t>
            </a:r>
            <a:r>
              <a:rPr lang="en-IN" dirty="0"/>
              <a:t>) and publicly available clinical note samples (Kaggle / MTAI / MIMIC-III).</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Operational &amp; Cost Feasibility:</a:t>
            </a:r>
            <a:r>
              <a:rPr lang="en-IN" dirty="0"/>
              <a:t> Zero hardware or software costs, ensuring high replicability for academic and research settings.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Time Feasibility:</a:t>
            </a:r>
            <a:r>
              <a:rPr lang="en-IN" dirty="0"/>
              <a:t> Structured 3-member work division enables complete implementation and testing within a sprinted project schedule.</a:t>
            </a:r>
          </a:p>
        </p:txBody>
      </p:sp>
    </p:spTree>
    <p:extLst>
      <p:ext uri="{BB962C8B-B14F-4D97-AF65-F5344CB8AC3E}">
        <p14:creationId xmlns:p14="http://schemas.microsoft.com/office/powerpoint/2010/main" val="392560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811B5-6ED4-B369-56ED-36BF8CE6C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F783C67-2925-801D-65F0-1F17B22C6D18}"/>
              </a:ext>
            </a:extLst>
          </p:cNvPr>
          <p:cNvSpPr txBox="1"/>
          <p:nvPr/>
        </p:nvSpPr>
        <p:spPr>
          <a:xfrm>
            <a:off x="5088467" y="1320800"/>
            <a:ext cx="3251200" cy="430887"/>
          </a:xfrm>
          <a:prstGeom prst="rect">
            <a:avLst/>
          </a:prstGeom>
          <a:noFill/>
        </p:spPr>
        <p:txBody>
          <a:bodyPr wrap="square" rtlCol="0">
            <a:spAutoFit/>
          </a:bodyPr>
          <a:lstStyle/>
          <a:p>
            <a:r>
              <a:rPr lang="en-IN" sz="2200" b="1" dirty="0"/>
              <a:t>Project Plan</a:t>
            </a:r>
          </a:p>
        </p:txBody>
      </p:sp>
      <p:sp>
        <p:nvSpPr>
          <p:cNvPr id="7" name="TextBox 6">
            <a:extLst>
              <a:ext uri="{FF2B5EF4-FFF2-40B4-BE49-F238E27FC236}">
                <a16:creationId xmlns:a16="http://schemas.microsoft.com/office/drawing/2014/main" id="{619C7CC0-5934-D610-18D2-81C19AF25FE9}"/>
              </a:ext>
            </a:extLst>
          </p:cNvPr>
          <p:cNvSpPr txBox="1"/>
          <p:nvPr/>
        </p:nvSpPr>
        <p:spPr>
          <a:xfrm>
            <a:off x="1337733" y="2387600"/>
            <a:ext cx="9855200" cy="3416320"/>
          </a:xfrm>
          <a:prstGeom prst="rect">
            <a:avLst/>
          </a:prstGeom>
          <a:noFill/>
        </p:spPr>
        <p:txBody>
          <a:bodyPr wrap="square" rtlCol="0">
            <a:spAutoFit/>
          </a:bodyPr>
          <a:lstStyle/>
          <a:p>
            <a:pPr lvl="0"/>
            <a:r>
              <a:rPr lang="en-IN" b="1" dirty="0"/>
              <a:t>Phase 1: Environment Setup &amp; Data Pipeline (Member 1)</a:t>
            </a:r>
            <a:endParaRPr lang="en-IN" dirty="0"/>
          </a:p>
          <a:p>
            <a:pPr marL="742950" lvl="1" indent="-285750">
              <a:buFont typeface="Arial" panose="020B0604020202020204" pitchFamily="34" charset="0"/>
              <a:buChar char="•"/>
            </a:pPr>
            <a:r>
              <a:rPr lang="en-IN" dirty="0"/>
              <a:t>Set up GitHub repository; process MedQuAD/PubMed datasets; implement </a:t>
            </a:r>
            <a:r>
              <a:rPr lang="en-IN" dirty="0" err="1"/>
              <a:t>SpaCy</a:t>
            </a:r>
            <a:r>
              <a:rPr lang="en-IN" dirty="0"/>
              <a:t> lemmatization, Bag-of-Words, and TF-IDF baselines.</a:t>
            </a:r>
          </a:p>
          <a:p>
            <a:pPr lvl="0"/>
            <a:r>
              <a:rPr lang="en-IN" b="1" dirty="0"/>
              <a:t>Phase 2: Vector Store &amp; </a:t>
            </a:r>
            <a:r>
              <a:rPr lang="en-IN" b="1" dirty="0" err="1"/>
              <a:t>BioBERT</a:t>
            </a:r>
            <a:r>
              <a:rPr lang="en-IN" b="1" dirty="0"/>
              <a:t> NER (Members 1 &amp; 2)</a:t>
            </a:r>
            <a:endParaRPr lang="en-IN" dirty="0"/>
          </a:p>
          <a:p>
            <a:pPr marL="742950" lvl="1" indent="-285750">
              <a:buFont typeface="Arial" panose="020B0604020202020204" pitchFamily="34" charset="0"/>
              <a:buChar char="•"/>
            </a:pPr>
            <a:r>
              <a:rPr lang="en-IN" dirty="0"/>
              <a:t>Index medical QA chunks into </a:t>
            </a:r>
            <a:r>
              <a:rPr lang="en-IN" dirty="0" err="1"/>
              <a:t>ChromaDB</a:t>
            </a:r>
            <a:r>
              <a:rPr lang="en-IN" dirty="0"/>
              <a:t>; deploy pre-trained </a:t>
            </a:r>
            <a:r>
              <a:rPr lang="en-IN" dirty="0" err="1"/>
              <a:t>BioBERT</a:t>
            </a:r>
            <a:r>
              <a:rPr lang="en-IN" dirty="0"/>
              <a:t> pipeline for clinical entity extraction (symptoms, drugs, labs).</a:t>
            </a:r>
          </a:p>
          <a:p>
            <a:pPr lvl="0"/>
            <a:r>
              <a:rPr lang="en-IN" b="1" dirty="0"/>
              <a:t>Phase 3: Llama 3 RAG &amp; Prompt Engineering (Member 3)</a:t>
            </a:r>
            <a:endParaRPr lang="en-IN" dirty="0"/>
          </a:p>
          <a:p>
            <a:pPr marL="742950" lvl="1" indent="-285750">
              <a:buFont typeface="Arial" panose="020B0604020202020204" pitchFamily="34" charset="0"/>
              <a:buChar char="•"/>
            </a:pPr>
            <a:r>
              <a:rPr lang="en-IN" dirty="0"/>
              <a:t>Configure Llama 3 8B API connection; design system prompts integrating extracted entities and retrieved context.</a:t>
            </a:r>
          </a:p>
          <a:p>
            <a:pPr lvl="0"/>
            <a:r>
              <a:rPr lang="en-IN" b="1" dirty="0"/>
              <a:t>Phase 4: System Integration, UI &amp; Testing (All Members)</a:t>
            </a:r>
            <a:endParaRPr lang="en-IN" dirty="0"/>
          </a:p>
          <a:p>
            <a:pPr marL="742950" lvl="1" indent="-285750">
              <a:buFont typeface="Arial" panose="020B0604020202020204" pitchFamily="34" charset="0"/>
              <a:buChar char="•"/>
            </a:pPr>
            <a:r>
              <a:rPr lang="en-IN" dirty="0"/>
              <a:t>Connect modules into the </a:t>
            </a:r>
            <a:r>
              <a:rPr lang="en-IN" dirty="0" err="1"/>
              <a:t>Streamlit</a:t>
            </a:r>
            <a:r>
              <a:rPr lang="en-IN" dirty="0"/>
              <a:t> dashboard; evaluate NER accuracy, RAG retrieval quality, and end-to-end clinical recommendations.</a:t>
            </a:r>
          </a:p>
        </p:txBody>
      </p:sp>
    </p:spTree>
    <p:extLst>
      <p:ext uri="{BB962C8B-B14F-4D97-AF65-F5344CB8AC3E}">
        <p14:creationId xmlns:p14="http://schemas.microsoft.com/office/powerpoint/2010/main" val="1689448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A659E-72D5-BC1F-96D4-43F5291916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D2B783B-9CCA-ABD9-B353-3235E522E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pic>
        <p:nvPicPr>
          <p:cNvPr id="3" name="Picture 2">
            <a:extLst>
              <a:ext uri="{FF2B5EF4-FFF2-40B4-BE49-F238E27FC236}">
                <a16:creationId xmlns:a16="http://schemas.microsoft.com/office/drawing/2014/main" id="{92F71A73-8A9E-DB20-A132-016162C030BD}"/>
              </a:ext>
            </a:extLst>
          </p:cNvPr>
          <p:cNvPicPr>
            <a:picLocks noChangeAspect="1"/>
          </p:cNvPicPr>
          <p:nvPr/>
        </p:nvPicPr>
        <p:blipFill>
          <a:blip r:embed="rId3"/>
          <a:stretch>
            <a:fillRect/>
          </a:stretch>
        </p:blipFill>
        <p:spPr>
          <a:xfrm>
            <a:off x="101600" y="1507068"/>
            <a:ext cx="11895667" cy="5350932"/>
          </a:xfrm>
          <a:prstGeom prst="rect">
            <a:avLst/>
          </a:prstGeom>
        </p:spPr>
      </p:pic>
      <p:sp>
        <p:nvSpPr>
          <p:cNvPr id="8" name="TextBox 7">
            <a:extLst>
              <a:ext uri="{FF2B5EF4-FFF2-40B4-BE49-F238E27FC236}">
                <a16:creationId xmlns:a16="http://schemas.microsoft.com/office/drawing/2014/main" id="{8AA00ACC-095C-8F5F-5676-5AFC0BB077DD}"/>
              </a:ext>
            </a:extLst>
          </p:cNvPr>
          <p:cNvSpPr txBox="1"/>
          <p:nvPr/>
        </p:nvSpPr>
        <p:spPr>
          <a:xfrm>
            <a:off x="4775200" y="1049867"/>
            <a:ext cx="3251200" cy="430887"/>
          </a:xfrm>
          <a:prstGeom prst="rect">
            <a:avLst/>
          </a:prstGeom>
          <a:noFill/>
        </p:spPr>
        <p:txBody>
          <a:bodyPr wrap="square" rtlCol="0">
            <a:spAutoFit/>
          </a:bodyPr>
          <a:lstStyle/>
          <a:p>
            <a:r>
              <a:rPr lang="en-IN" sz="2200" b="1" dirty="0"/>
              <a:t>Backend Output</a:t>
            </a:r>
          </a:p>
        </p:txBody>
      </p:sp>
    </p:spTree>
    <p:extLst>
      <p:ext uri="{BB962C8B-B14F-4D97-AF65-F5344CB8AC3E}">
        <p14:creationId xmlns:p14="http://schemas.microsoft.com/office/powerpoint/2010/main" val="2435291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16CD4-7E45-D866-804E-B7327CA1E0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0A555C-C325-0836-F368-DF456D38D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8" name="TextBox 7">
            <a:extLst>
              <a:ext uri="{FF2B5EF4-FFF2-40B4-BE49-F238E27FC236}">
                <a16:creationId xmlns:a16="http://schemas.microsoft.com/office/drawing/2014/main" id="{1C2BF9DD-66BF-A29D-B2E3-81A6892EB248}"/>
              </a:ext>
            </a:extLst>
          </p:cNvPr>
          <p:cNvSpPr txBox="1"/>
          <p:nvPr/>
        </p:nvSpPr>
        <p:spPr>
          <a:xfrm>
            <a:off x="4775200" y="1049867"/>
            <a:ext cx="3251200" cy="430887"/>
          </a:xfrm>
          <a:prstGeom prst="rect">
            <a:avLst/>
          </a:prstGeom>
          <a:noFill/>
        </p:spPr>
        <p:txBody>
          <a:bodyPr wrap="square" rtlCol="0">
            <a:spAutoFit/>
          </a:bodyPr>
          <a:lstStyle/>
          <a:p>
            <a:r>
              <a:rPr lang="en-IN" sz="2200" b="1" dirty="0"/>
              <a:t>Backend Output</a:t>
            </a:r>
          </a:p>
        </p:txBody>
      </p:sp>
      <p:pic>
        <p:nvPicPr>
          <p:cNvPr id="4" name="Picture 3">
            <a:extLst>
              <a:ext uri="{FF2B5EF4-FFF2-40B4-BE49-F238E27FC236}">
                <a16:creationId xmlns:a16="http://schemas.microsoft.com/office/drawing/2014/main" id="{52021087-8E4A-E2B7-1B17-96818EAF3886}"/>
              </a:ext>
            </a:extLst>
          </p:cNvPr>
          <p:cNvPicPr>
            <a:picLocks noChangeAspect="1"/>
          </p:cNvPicPr>
          <p:nvPr/>
        </p:nvPicPr>
        <p:blipFill>
          <a:blip r:embed="rId3"/>
          <a:stretch>
            <a:fillRect/>
          </a:stretch>
        </p:blipFill>
        <p:spPr>
          <a:xfrm>
            <a:off x="135467" y="1473200"/>
            <a:ext cx="11946466" cy="5384800"/>
          </a:xfrm>
          <a:prstGeom prst="rect">
            <a:avLst/>
          </a:prstGeom>
        </p:spPr>
      </p:pic>
    </p:spTree>
    <p:extLst>
      <p:ext uri="{BB962C8B-B14F-4D97-AF65-F5344CB8AC3E}">
        <p14:creationId xmlns:p14="http://schemas.microsoft.com/office/powerpoint/2010/main" val="4059553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1291</Words>
  <Application>Microsoft Office PowerPoint</Application>
  <PresentationFormat>Widescreen</PresentationFormat>
  <Paragraphs>151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P</dc:creator>
  <cp:lastModifiedBy>Dhanush P</cp:lastModifiedBy>
  <cp:revision>3</cp:revision>
  <dcterms:created xsi:type="dcterms:W3CDTF">2026-08-08T04:55:50Z</dcterms:created>
  <dcterms:modified xsi:type="dcterms:W3CDTF">2026-09-16T04:15:20Z</dcterms:modified>
</cp:coreProperties>
</file>